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011680" y="1371600"/>
            <a:ext cx="822960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011680" y="1371600"/>
            <a:ext cx="64008" cy="420624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0" y="1691640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F2137"/>
                </a:solidFill>
              </a:rPr>
              <a:t>Pirámide de Testing — BUPA Chile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25603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3D5A73"/>
                </a:solidFill>
              </a:rPr>
              <a:t>Modelo Cohn  ·  11 Tipos de Prueba  ·  Stack QA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0" y="3063240"/>
            <a:ext cx="7680960" cy="15240"/>
          </a:xfrm>
          <a:prstGeom prst="rect">
            <a:avLst/>
          </a:prstGeom>
          <a:solidFill>
            <a:srgbClr val="D8E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286000" y="3291840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A98B0"/>
                </a:solidFill>
              </a:rPr>
              <a:t>Autor: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3291840"/>
            <a:ext cx="5943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5A73"/>
                </a:solidFill>
              </a:rPr>
              <a:t>Jaime Quiñelen Villar — QA Lead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3639312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A98B0"/>
                </a:solidFill>
              </a:rPr>
              <a:t>Organización: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3639312"/>
            <a:ext cx="5943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5A73"/>
                </a:solidFill>
              </a:rPr>
              <a:t>BUPA Chile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3986784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A98B0"/>
                </a:solidFill>
              </a:rPr>
              <a:t>Modelo: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3986784"/>
            <a:ext cx="5943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5A73"/>
                </a:solidFill>
              </a:rPr>
              <a:t>Pirámide de Testing — Mike Cohn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4334256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A98B0"/>
                </a:solidFill>
              </a:rPr>
              <a:t>Versión: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4334256"/>
            <a:ext cx="5943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5A73"/>
                </a:solidFill>
              </a:rPr>
              <a:t>v1.0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4681728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A98B0"/>
                </a:solidFill>
              </a:rPr>
              <a:t>Fecha: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4681728"/>
            <a:ext cx="5943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5A73"/>
                </a:solidFill>
              </a:rPr>
              <a:t>Mayo 2026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04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65760" y="6556248"/>
            <a:ext cx="11457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BUPA Chile  ·  QA Lead: Jaime Quiñelen Villar  ·  Pirámide de Testing  ·  Mayo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6CC"/>
                </a:solidFill>
              </a:rPr>
              <a:t>ESTRATEGIA DE TESTING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0624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F2137"/>
                </a:solidFill>
              </a:rPr>
              <a:t>Pirámide de Testing — Modelo Cohn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32688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3D5A73"/>
                </a:solidFill>
              </a:rPr>
              <a:t>Mientras más arriba: más caro, más lento y menos casos se justifican.</a:t>
            </a:r>
          </a:p>
        </p:txBody>
      </p:sp>
      <p:sp>
        <p:nvSpPr>
          <p:cNvPr id="7" name="Rectangle 6"/>
          <p:cNvSpPr/>
          <p:nvPr/>
        </p:nvSpPr>
        <p:spPr>
          <a:xfrm>
            <a:off x="3319271" y="1325880"/>
            <a:ext cx="2294947" cy="1115568"/>
          </a:xfrm>
          <a:prstGeom prst="rect">
            <a:avLst/>
          </a:prstGeom>
          <a:solidFill>
            <a:srgbClr val="BF2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56432" y="1349084"/>
            <a:ext cx="186537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 dirty="0">
                <a:solidFill>
                  <a:srgbClr val="FFFFFF"/>
                </a:solidFill>
              </a:rPr>
              <a:t>CIMA — </a:t>
            </a:r>
            <a:r>
              <a:rPr sz="1300" b="1" i="0" dirty="0" err="1">
                <a:solidFill>
                  <a:srgbClr val="FFFFFF"/>
                </a:solidFill>
              </a:rPr>
              <a:t>Criterio</a:t>
            </a:r>
            <a:r>
              <a:rPr sz="1300" b="1" i="0" dirty="0">
                <a:solidFill>
                  <a:srgbClr val="FFFFFF"/>
                </a:solidFill>
              </a:rPr>
              <a:t> Humano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74136" y="1759224"/>
            <a:ext cx="195681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 dirty="0">
                <a:solidFill>
                  <a:srgbClr val="FFFFFF"/>
                </a:solidFill>
              </a:rPr>
              <a:t>Sin </a:t>
            </a:r>
            <a:r>
              <a:rPr sz="1200" b="0" i="0" dirty="0" err="1">
                <a:solidFill>
                  <a:srgbClr val="FFFFFF"/>
                </a:solidFill>
              </a:rPr>
              <a:t>herramienta</a:t>
            </a:r>
            <a:r>
              <a:rPr sz="1200" b="0" i="0" dirty="0">
                <a:solidFill>
                  <a:srgbClr val="FFFFFF"/>
                </a:solidFill>
              </a:rPr>
              <a:t> </a:t>
            </a:r>
            <a:r>
              <a:rPr sz="1200" b="0" i="0" dirty="0" err="1">
                <a:solidFill>
                  <a:srgbClr val="FFFFFF"/>
                </a:solidFill>
              </a:rPr>
              <a:t>fija</a:t>
            </a:r>
            <a:endParaRPr sz="1200" b="0" i="0" dirty="0">
              <a:solidFill>
                <a:srgbClr val="FFFFFF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410712" y="1984248"/>
            <a:ext cx="19568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 dirty="0">
                <a:solidFill>
                  <a:srgbClr val="FFFFAA"/>
                </a:solidFill>
              </a:rPr>
              <a:t>Manual  ·  Exploratory  ·  Usability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50208" y="2167128"/>
            <a:ext cx="195681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 dirty="0">
                <a:solidFill>
                  <a:srgbClr val="7FFFD4"/>
                </a:solidFill>
              </a:rPr>
              <a:t>[ UAT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63394" y="2487168"/>
            <a:ext cx="3851452" cy="1234440"/>
          </a:xfrm>
          <a:prstGeom prst="rect">
            <a:avLst/>
          </a:prstGeom>
          <a:solidFill>
            <a:srgbClr val="946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600554" y="2560320"/>
            <a:ext cx="35771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E2E / UI  —  10%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54834" y="2889504"/>
            <a:ext cx="36685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Playwright · Cypress · Appium · Selenium · BrowserStack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54834" y="3145536"/>
            <a:ext cx="36685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AA"/>
                </a:solidFill>
              </a:rPr>
              <a:t>Regression  ·  Accessibility  ·  Security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54834" y="3374136"/>
            <a:ext cx="36685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7FFFD4"/>
                </a:solidFill>
              </a:rPr>
              <a:t>[ UAT · PROD 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3177" y="3767328"/>
            <a:ext cx="5491886" cy="1325880"/>
          </a:xfrm>
          <a:prstGeom prst="rect">
            <a:avLst/>
          </a:prstGeom>
          <a:solidFill>
            <a:srgbClr val="5243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780337" y="3840480"/>
            <a:ext cx="521756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INTEGRACIÓN / SERVICE  —  20%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4617" y="4169664"/>
            <a:ext cx="530900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Postman · Newman · n8n · APIs REST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4617" y="4425696"/>
            <a:ext cx="530900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AA"/>
                </a:solidFill>
              </a:rPr>
              <a:t>Integration  ·  Performance  ·  Smoke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4617" y="4745736"/>
            <a:ext cx="530900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7FFFD4"/>
                </a:solidFill>
              </a:rPr>
              <a:t>[ DEV · UAT · PROD 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138928"/>
            <a:ext cx="7132320" cy="1463040"/>
          </a:xfrm>
          <a:prstGeom prst="rect">
            <a:avLst/>
          </a:prstGeom>
          <a:solidFill>
            <a:srgbClr val="008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60120" y="5212080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BASE  —  70%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541264"/>
            <a:ext cx="69494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 dirty="0">
                <a:solidFill>
                  <a:srgbClr val="FFFFFF"/>
                </a:solidFill>
              </a:rPr>
              <a:t>Go test · Jest · Karma · Azure DevOps CI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797296"/>
            <a:ext cx="69494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 dirty="0">
                <a:solidFill>
                  <a:srgbClr val="FFFFAA"/>
                </a:solidFill>
              </a:rPr>
              <a:t>Unit Testing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6168120"/>
            <a:ext cx="6949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7FFFD4"/>
                </a:solidFill>
              </a:rPr>
              <a:t>[ DEV · UAT · PROD 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" y="1325880"/>
            <a:ext cx="7498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 dirty="0">
                <a:solidFill>
                  <a:srgbClr val="BF2600"/>
                </a:solidFill>
              </a:rPr>
              <a:t>LENTO
CARO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" y="5320726"/>
            <a:ext cx="7498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 dirty="0">
                <a:solidFill>
                  <a:srgbClr val="00875A"/>
                </a:solidFill>
              </a:rPr>
              <a:t>RÁPIDO
BARATO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0" y="1325880"/>
            <a:ext cx="36576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229600" y="1325880"/>
            <a:ext cx="54864" cy="1389888"/>
          </a:xfrm>
          <a:prstGeom prst="rect">
            <a:avLst/>
          </a:prstGeom>
          <a:solidFill>
            <a:srgbClr val="BF2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8394192" y="1435608"/>
            <a:ext cx="612647" cy="292608"/>
          </a:xfrm>
          <a:prstGeom prst="rect">
            <a:avLst/>
          </a:prstGeom>
          <a:solidFill>
            <a:srgbClr val="FFE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394192" y="1435608"/>
            <a:ext cx="61264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F2600"/>
                </a:solidFill>
              </a:rPr>
              <a:t>CIMA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16567" y="1435608"/>
            <a:ext cx="258775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A98B0"/>
                </a:solidFill>
              </a:rPr>
              <a:t>No automatizable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94192" y="1856232"/>
            <a:ext cx="822960" cy="292608"/>
          </a:xfrm>
          <a:prstGeom prst="rect">
            <a:avLst/>
          </a:prstGeom>
          <a:solidFill>
            <a:srgbClr val="F3F7FB"/>
          </a:solidFill>
          <a:ln w="635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449056" y="1856232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5A73"/>
                </a:solidFill>
              </a:rPr>
              <a:t>Manual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308592" y="1856232"/>
            <a:ext cx="1280160" cy="292608"/>
          </a:xfrm>
          <a:prstGeom prst="rect">
            <a:avLst/>
          </a:prstGeom>
          <a:solidFill>
            <a:srgbClr val="F3F7FB"/>
          </a:solidFill>
          <a:ln w="635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363456" y="1856232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5A73"/>
                </a:solidFill>
              </a:rPr>
              <a:t>Exploratory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680192" y="1856232"/>
            <a:ext cx="1097280" cy="292608"/>
          </a:xfrm>
          <a:prstGeom prst="rect">
            <a:avLst/>
          </a:prstGeom>
          <a:solidFill>
            <a:srgbClr val="F3F7FB"/>
          </a:solidFill>
          <a:ln w="635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735056" y="185623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5A73"/>
                </a:solidFill>
              </a:rPr>
              <a:t>Usability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29600" y="2788920"/>
            <a:ext cx="36576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8229600" y="2788920"/>
            <a:ext cx="54864" cy="1389888"/>
          </a:xfrm>
          <a:prstGeom prst="rect">
            <a:avLst/>
          </a:prstGeom>
          <a:solidFill>
            <a:srgbClr val="946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8394192" y="2898648"/>
            <a:ext cx="1092707" cy="29260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394192" y="2898648"/>
            <a:ext cx="10927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946200"/>
                </a:solidFill>
              </a:rPr>
              <a:t>E2E · 10%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96627" y="2898648"/>
            <a:ext cx="210769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A98B0"/>
                </a:solidFill>
              </a:rPr>
              <a:t>Semi-automatizado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94192" y="3319272"/>
            <a:ext cx="1188720" cy="292608"/>
          </a:xfrm>
          <a:prstGeom prst="rect">
            <a:avLst/>
          </a:prstGeom>
          <a:solidFill>
            <a:srgbClr val="F3F7FB"/>
          </a:solidFill>
          <a:ln w="635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449056" y="3319272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5A73"/>
                </a:solidFill>
              </a:rPr>
              <a:t>Regression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74352" y="3319272"/>
            <a:ext cx="1463040" cy="292608"/>
          </a:xfrm>
          <a:prstGeom prst="rect">
            <a:avLst/>
          </a:prstGeom>
          <a:solidFill>
            <a:srgbClr val="F3F7FB"/>
          </a:solidFill>
          <a:ln w="635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9729216" y="3319272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5A73"/>
                </a:solidFill>
              </a:rPr>
              <a:t>Accessibility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193378" y="3694176"/>
            <a:ext cx="1005840" cy="292608"/>
          </a:xfrm>
          <a:prstGeom prst="rect">
            <a:avLst/>
          </a:prstGeom>
          <a:solidFill>
            <a:srgbClr val="F3F7FB"/>
          </a:solidFill>
          <a:ln w="635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9296247" y="3694176"/>
            <a:ext cx="7315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3D5A73"/>
                </a:solidFill>
              </a:rPr>
              <a:t>Security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229600" y="4251960"/>
            <a:ext cx="36576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8229600" y="4251960"/>
            <a:ext cx="54864" cy="1389888"/>
          </a:xfrm>
          <a:prstGeom prst="rect">
            <a:avLst/>
          </a:prstGeom>
          <a:solidFill>
            <a:srgbClr val="5243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8394192" y="4361688"/>
            <a:ext cx="1476756" cy="292608"/>
          </a:xfrm>
          <a:prstGeom prst="rect">
            <a:avLst/>
          </a:prstGeom>
          <a:solidFill>
            <a:srgbClr val="EAE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8394192" y="4361688"/>
            <a:ext cx="14767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5243AA"/>
                </a:solidFill>
              </a:rPr>
              <a:t>SERVICE · 20%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80676" y="4361688"/>
            <a:ext cx="17236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A98B0"/>
                </a:solidFill>
              </a:rPr>
              <a:t>Automatizable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394192" y="4782312"/>
            <a:ext cx="1280160" cy="292608"/>
          </a:xfrm>
          <a:prstGeom prst="rect">
            <a:avLst/>
          </a:prstGeom>
          <a:solidFill>
            <a:srgbClr val="F3F7FB"/>
          </a:solidFill>
          <a:ln w="635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8449056" y="4782312"/>
            <a:ext cx="12801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200" b="0" i="0" dirty="0">
                <a:solidFill>
                  <a:srgbClr val="3D5A73"/>
                </a:solidFill>
              </a:rPr>
              <a:t>     </a:t>
            </a:r>
            <a:r>
              <a:rPr sz="1200" b="0" i="0" dirty="0">
                <a:solidFill>
                  <a:srgbClr val="3D5A73"/>
                </a:solidFill>
              </a:rPr>
              <a:t>Integration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765792" y="4782312"/>
            <a:ext cx="1280160" cy="292608"/>
          </a:xfrm>
          <a:prstGeom prst="rect">
            <a:avLst/>
          </a:prstGeom>
          <a:solidFill>
            <a:srgbClr val="F3F7FB"/>
          </a:solidFill>
          <a:ln w="635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9820656" y="4782312"/>
            <a:ext cx="12801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200" b="0" i="0" dirty="0">
                <a:solidFill>
                  <a:srgbClr val="3D5A73"/>
                </a:solidFill>
              </a:rPr>
              <a:t>  </a:t>
            </a:r>
            <a:r>
              <a:rPr sz="1200" b="0" i="0" dirty="0">
                <a:solidFill>
                  <a:srgbClr val="3D5A73"/>
                </a:solidFill>
              </a:rPr>
              <a:t>Performance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152062" y="5166360"/>
            <a:ext cx="731520" cy="292608"/>
          </a:xfrm>
          <a:prstGeom prst="rect">
            <a:avLst/>
          </a:prstGeom>
          <a:solidFill>
            <a:srgbClr val="F3F7FB"/>
          </a:solidFill>
          <a:ln w="635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9232490" y="5184648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3D5A73"/>
                </a:solidFill>
              </a:rPr>
              <a:t>Smoke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229600" y="5715000"/>
            <a:ext cx="36576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8229600" y="5715000"/>
            <a:ext cx="54864" cy="1389888"/>
          </a:xfrm>
          <a:prstGeom prst="rect">
            <a:avLst/>
          </a:prstGeom>
          <a:solidFill>
            <a:srgbClr val="008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8394192" y="5824728"/>
            <a:ext cx="1188720" cy="292608"/>
          </a:xfrm>
          <a:prstGeom prst="rect">
            <a:avLst/>
          </a:prstGeom>
          <a:solidFill>
            <a:srgbClr val="E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8394192" y="5824728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875A"/>
                </a:solidFill>
              </a:rPr>
              <a:t>BASE · 70%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692640" y="5824728"/>
            <a:ext cx="20116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CL" sz="1200" b="1" i="0" dirty="0">
                <a:solidFill>
                  <a:srgbClr val="7A98B0"/>
                </a:solidFill>
              </a:rPr>
              <a:t>UNITARIAS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394192" y="6245352"/>
            <a:ext cx="1371600" cy="292608"/>
          </a:xfrm>
          <a:prstGeom prst="rect">
            <a:avLst/>
          </a:prstGeom>
          <a:solidFill>
            <a:srgbClr val="F3F7FB"/>
          </a:solidFill>
          <a:ln w="635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8449056" y="6245352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5A73"/>
                </a:solidFill>
              </a:rPr>
              <a:t>Unit Testing</a:t>
            </a:r>
          </a:p>
        </p:txBody>
      </p:sp>
      <p:sp>
        <p:nvSpPr>
          <p:cNvPr id="71" name="Rectangle 7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04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365760" y="6556248"/>
            <a:ext cx="11457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BUPA Chile  ·  QA Lead: Jaime Quiñelen Villar  ·  Pirámide de Testing  ·  Mayo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6CC"/>
                </a:solidFill>
              </a:rPr>
              <a:t>MÉTRICAS POR NIVEL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0624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F2137"/>
                </a:solidFill>
              </a:rPr>
              <a:t>Distribución por Nivel — Pirámide de Testing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097280"/>
            <a:ext cx="283464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1097280"/>
            <a:ext cx="2834640" cy="54864"/>
          </a:xfrm>
          <a:prstGeom prst="rect">
            <a:avLst/>
          </a:prstGeom>
          <a:solidFill>
            <a:srgbClr val="008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30352" y="1261872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A98B0"/>
                </a:solidFill>
              </a:rPr>
              <a:t>BASE — UNITARIAS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591056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00875A"/>
                </a:solidFill>
              </a:rPr>
              <a:t>70%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37744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5A73"/>
                </a:solidFill>
              </a:rPr>
              <a:t>Go test · Jest · Karma
Azure DevOps CI
Cobertura mín. ≥ 80%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01568" y="1097280"/>
            <a:ext cx="283464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401568" y="1097280"/>
            <a:ext cx="2834640" cy="54864"/>
          </a:xfrm>
          <a:prstGeom prst="rect">
            <a:avLst/>
          </a:prstGeom>
          <a:solidFill>
            <a:srgbClr val="5243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566160" y="1261872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A98B0"/>
                </a:solidFill>
              </a:rPr>
              <a:t>INTEGRACIÓN / SERVICE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1591056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5243AA"/>
                </a:solidFill>
              </a:rPr>
              <a:t>20%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37744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5A73"/>
                </a:solidFill>
              </a:rPr>
              <a:t>Postman · Newman · n8n
APIs REST · Contratos SDD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37376" y="1097280"/>
            <a:ext cx="283464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437376" y="1097280"/>
            <a:ext cx="2834640" cy="54864"/>
          </a:xfrm>
          <a:prstGeom prst="rect">
            <a:avLst/>
          </a:prstGeom>
          <a:solidFill>
            <a:srgbClr val="946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601968" y="1261872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A98B0"/>
                </a:solidFill>
              </a:rPr>
              <a:t>E2E / UI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1968" y="1591056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946200"/>
                </a:solidFill>
              </a:rPr>
              <a:t>10%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1968" y="237744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5A73"/>
                </a:solidFill>
              </a:rPr>
              <a:t>Playwright · Cypress · Appium
Selenium · BrowserStack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73184" y="1097280"/>
            <a:ext cx="283464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473184" y="1097280"/>
            <a:ext cx="2834640" cy="54864"/>
          </a:xfrm>
          <a:prstGeom prst="rect">
            <a:avLst/>
          </a:prstGeom>
          <a:solidFill>
            <a:srgbClr val="BF2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637776" y="1261872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A98B0"/>
                </a:solidFill>
              </a:rPr>
              <a:t>TIPOS DE TESTING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37776" y="1591056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BF2600"/>
                </a:solidFill>
              </a:rPr>
              <a:t>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37776" y="237744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5A73"/>
                </a:solidFill>
              </a:rPr>
              <a:t>Tipos cubiertos
en el plan QA BUPA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324612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F2137"/>
                </a:solidFill>
              </a:rPr>
              <a:t>Eje de la Pirámide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657600"/>
            <a:ext cx="2286000" cy="420624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48640" y="3730752"/>
            <a:ext cx="22860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ATRIBUTO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0" y="3657600"/>
            <a:ext cx="1737360" cy="420624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834640" y="3730752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CIMA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480560" y="3657600"/>
            <a:ext cx="1737360" cy="420624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572000" y="3730752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E2E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3657600"/>
            <a:ext cx="2011680" cy="420624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309360" y="3730752"/>
            <a:ext cx="2011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SERVICE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0" y="3657600"/>
            <a:ext cx="1737360" cy="420624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321040" y="3730752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BASE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078224"/>
            <a:ext cx="228600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48640" y="4151376"/>
            <a:ext cx="217627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D5A73"/>
                </a:solidFill>
              </a:rPr>
              <a:t>Velocidad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0" y="4078224"/>
            <a:ext cx="173736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2834640" y="4151376"/>
            <a:ext cx="162763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F2600"/>
                </a:solidFill>
              </a:rPr>
              <a:t>Lento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480560" y="4078224"/>
            <a:ext cx="173736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572000" y="4151376"/>
            <a:ext cx="162763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6200"/>
                </a:solidFill>
              </a:rPr>
              <a:t>Medio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17920" y="4078224"/>
            <a:ext cx="201168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309360" y="4151376"/>
            <a:ext cx="190195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243AA"/>
                </a:solidFill>
              </a:rPr>
              <a:t>Medio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229600" y="4078224"/>
            <a:ext cx="173736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321040" y="4151376"/>
            <a:ext cx="162763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875A"/>
                </a:solidFill>
              </a:rPr>
              <a:t>Rápido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4498848"/>
            <a:ext cx="228600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48640" y="4572000"/>
            <a:ext cx="217627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D5A73"/>
                </a:solidFill>
              </a:rPr>
              <a:t>Costo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0" y="4498848"/>
            <a:ext cx="173736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2834640" y="4572000"/>
            <a:ext cx="162763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F2600"/>
                </a:solidFill>
              </a:rPr>
              <a:t>Alto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480560" y="4498848"/>
            <a:ext cx="173736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4572000" y="4572000"/>
            <a:ext cx="162763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6200"/>
                </a:solidFill>
              </a:rPr>
              <a:t>Medio-Alto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17920" y="4498848"/>
            <a:ext cx="201168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309360" y="4572000"/>
            <a:ext cx="190195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243AA"/>
                </a:solidFill>
              </a:rPr>
              <a:t>Medio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229600" y="4498848"/>
            <a:ext cx="173736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321040" y="4572000"/>
            <a:ext cx="162763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875A"/>
                </a:solidFill>
              </a:rPr>
              <a:t>Bajo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57200" y="4919472"/>
            <a:ext cx="228600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548640" y="4992624"/>
            <a:ext cx="217627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D5A73"/>
                </a:solidFill>
              </a:rPr>
              <a:t>Cantidad de casos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743200" y="4919472"/>
            <a:ext cx="173736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2834640" y="4992624"/>
            <a:ext cx="162763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F2600"/>
                </a:solidFill>
              </a:rPr>
              <a:t>Pocos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480560" y="4919472"/>
            <a:ext cx="173736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4572000" y="4992624"/>
            <a:ext cx="162763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6200"/>
                </a:solidFill>
              </a:rPr>
              <a:t>Moderado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217920" y="4919472"/>
            <a:ext cx="201168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6309360" y="4992624"/>
            <a:ext cx="190195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243AA"/>
                </a:solidFill>
              </a:rPr>
              <a:t>Moderado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229600" y="4919472"/>
            <a:ext cx="173736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8321040" y="4992624"/>
            <a:ext cx="162763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875A"/>
                </a:solidFill>
              </a:rPr>
              <a:t>Muchos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57200" y="5340096"/>
            <a:ext cx="228600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548640" y="5413248"/>
            <a:ext cx="217627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D5A73"/>
                </a:solidFill>
              </a:rPr>
              <a:t>Automatización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743200" y="5340096"/>
            <a:ext cx="173736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2834640" y="5413248"/>
            <a:ext cx="162763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F2600"/>
                </a:solidFill>
              </a:rPr>
              <a:t>No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80560" y="5340096"/>
            <a:ext cx="173736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4572000" y="5413248"/>
            <a:ext cx="162763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6200"/>
                </a:solidFill>
              </a:rPr>
              <a:t>Parcial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217920" y="5340096"/>
            <a:ext cx="201168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6309360" y="5413248"/>
            <a:ext cx="190195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243AA"/>
                </a:solidFill>
              </a:rPr>
              <a:t>Parcial-Total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229600" y="5340096"/>
            <a:ext cx="173736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8321040" y="5413248"/>
            <a:ext cx="162763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875A"/>
                </a:solidFill>
              </a:rPr>
              <a:t>Total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57200" y="5760720"/>
            <a:ext cx="228600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548640" y="5833872"/>
            <a:ext cx="217627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D5A73"/>
                </a:solidFill>
              </a:rPr>
              <a:t>Feedback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743200" y="5760720"/>
            <a:ext cx="173736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2834640" y="5833872"/>
            <a:ext cx="162763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F2600"/>
                </a:solidFill>
              </a:rPr>
              <a:t>Tardío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480560" y="5760720"/>
            <a:ext cx="173736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4572000" y="5833872"/>
            <a:ext cx="162763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46200"/>
                </a:solidFill>
              </a:rPr>
              <a:t>Tardío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217920" y="5760720"/>
            <a:ext cx="201168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6309360" y="5833872"/>
            <a:ext cx="190195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243AA"/>
                </a:solidFill>
              </a:rPr>
              <a:t>Rápido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229600" y="5760720"/>
            <a:ext cx="173736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8321040" y="5833872"/>
            <a:ext cx="162763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0875A"/>
                </a:solidFill>
              </a:rPr>
              <a:t>Inmediato</a:t>
            </a:r>
          </a:p>
        </p:txBody>
      </p:sp>
      <p:sp>
        <p:nvSpPr>
          <p:cNvPr id="87" name="Rectangle 8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04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365760" y="6556248"/>
            <a:ext cx="11457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BUPA Chile  ·  QA Lead: Jaime Quiñelen Villar  ·  Pirámide de Testing  ·  Mayo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6CC"/>
                </a:solidFill>
              </a:rPr>
              <a:t>DETALLE COMPLETO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20624"/>
            <a:ext cx="9144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F2137"/>
                </a:solidFill>
              </a:rPr>
              <a:t>Mapa Completo — 11 Tipos en la Pirámide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256032" y="1005840"/>
            <a:ext cx="2011680" cy="438912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0040" y="1097280"/>
            <a:ext cx="193852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TIPO DE TESTING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2267712" y="1005840"/>
            <a:ext cx="868680" cy="438912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331720" y="1097280"/>
            <a:ext cx="79552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NIVEL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36392" y="1005840"/>
            <a:ext cx="2286000" cy="438912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00400" y="1097280"/>
            <a:ext cx="22128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HERRAMIENTA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22392" y="1005840"/>
            <a:ext cx="1051560" cy="438912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0" y="1097280"/>
            <a:ext cx="97840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AUTOMATIZACIÓN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73952" y="1005840"/>
            <a:ext cx="1188720" cy="438912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37960" y="1097280"/>
            <a:ext cx="11155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AMBIENTE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62672" y="1005840"/>
            <a:ext cx="1417320" cy="438912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26680" y="1097280"/>
            <a:ext cx="13441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RESPONSABLE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6032" y="1444752"/>
            <a:ext cx="2011680" cy="438912"/>
          </a:xfrm>
          <a:prstGeom prst="rect">
            <a:avLst/>
          </a:prstGeom>
          <a:solidFill>
            <a:srgbClr val="FFFFFF"/>
          </a:solidFill>
          <a:ln w="508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29184" y="1618488"/>
            <a:ext cx="91440" cy="91440"/>
          </a:xfrm>
          <a:prstGeom prst="rect">
            <a:avLst/>
          </a:prstGeom>
          <a:solidFill>
            <a:srgbClr val="008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75488" y="1527048"/>
            <a:ext cx="1755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2137"/>
                </a:solidFill>
              </a:rPr>
              <a:t>Unit Testing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67712" y="1444752"/>
            <a:ext cx="868680" cy="438912"/>
          </a:xfrm>
          <a:prstGeom prst="rect">
            <a:avLst/>
          </a:prstGeom>
          <a:solidFill>
            <a:srgbClr val="FFFFFF"/>
          </a:solidFill>
          <a:ln w="508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340864" y="1527048"/>
            <a:ext cx="777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875A"/>
                </a:solidFill>
              </a:rPr>
              <a:t>Base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36392" y="1444752"/>
            <a:ext cx="2286000" cy="438912"/>
          </a:xfrm>
          <a:prstGeom prst="rect">
            <a:avLst/>
          </a:prstGeom>
          <a:solidFill>
            <a:srgbClr val="FFFFFF"/>
          </a:solidFill>
          <a:ln w="508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209544" y="1527048"/>
            <a:ext cx="2194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5A73"/>
                </a:solidFill>
              </a:rPr>
              <a:t>Go test · Jest · Karma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22392" y="1444752"/>
            <a:ext cx="1051560" cy="438912"/>
          </a:xfrm>
          <a:prstGeom prst="rect">
            <a:avLst/>
          </a:prstGeom>
          <a:solidFill>
            <a:srgbClr val="FFFFFF"/>
          </a:solidFill>
          <a:ln w="508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477256" y="1536192"/>
            <a:ext cx="896112" cy="256032"/>
          </a:xfrm>
          <a:prstGeom prst="rect">
            <a:avLst/>
          </a:prstGeom>
          <a:solidFill>
            <a:srgbClr val="E6F5EF"/>
          </a:solidFill>
          <a:ln w="508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477256" y="1536192"/>
            <a:ext cx="896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875A"/>
                </a:solidFill>
              </a:rPr>
              <a:t>100% Auto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73952" y="1444752"/>
            <a:ext cx="1188720" cy="438912"/>
          </a:xfrm>
          <a:prstGeom prst="rect">
            <a:avLst/>
          </a:prstGeom>
          <a:solidFill>
            <a:srgbClr val="FFFFFF"/>
          </a:solidFill>
          <a:ln w="508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547104" y="1527048"/>
            <a:ext cx="1097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5A73"/>
                </a:solidFill>
              </a:rPr>
              <a:t>DEV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62672" y="1444752"/>
            <a:ext cx="1417320" cy="438912"/>
          </a:xfrm>
          <a:prstGeom prst="rect">
            <a:avLst/>
          </a:prstGeom>
          <a:solidFill>
            <a:srgbClr val="FFFFFF"/>
          </a:solidFill>
          <a:ln w="508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735824" y="1527048"/>
            <a:ext cx="1325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5A73"/>
                </a:solidFill>
              </a:rPr>
              <a:t>Dev Team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6032" y="1883664"/>
            <a:ext cx="2011680" cy="438912"/>
          </a:xfrm>
          <a:prstGeom prst="rect">
            <a:avLst/>
          </a:prstGeom>
          <a:solidFill>
            <a:srgbClr val="F8FAFC"/>
          </a:solidFill>
          <a:ln w="508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329184" y="2057400"/>
            <a:ext cx="91440" cy="91440"/>
          </a:xfrm>
          <a:prstGeom prst="rect">
            <a:avLst/>
          </a:prstGeom>
          <a:solidFill>
            <a:srgbClr val="008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75488" y="1965960"/>
            <a:ext cx="1755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2137"/>
                </a:solidFill>
              </a:rPr>
              <a:t>Automated Testing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267712" y="1883664"/>
            <a:ext cx="868680" cy="438912"/>
          </a:xfrm>
          <a:prstGeom prst="rect">
            <a:avLst/>
          </a:prstGeom>
          <a:solidFill>
            <a:srgbClr val="F8FAFC"/>
          </a:solidFill>
          <a:ln w="508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340864" y="1965960"/>
            <a:ext cx="777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875A"/>
                </a:solidFill>
              </a:rPr>
              <a:t>Base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36392" y="1883664"/>
            <a:ext cx="2286000" cy="438912"/>
          </a:xfrm>
          <a:prstGeom prst="rect">
            <a:avLst/>
          </a:prstGeom>
          <a:solidFill>
            <a:srgbClr val="F8FAFC"/>
          </a:solidFill>
          <a:ln w="508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209544" y="1965960"/>
            <a:ext cx="2194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5A73"/>
                </a:solidFill>
              </a:rPr>
              <a:t>Cypress · Playwright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22392" y="1883664"/>
            <a:ext cx="1051560" cy="438912"/>
          </a:xfrm>
          <a:prstGeom prst="rect">
            <a:avLst/>
          </a:prstGeom>
          <a:solidFill>
            <a:srgbClr val="F8FAFC"/>
          </a:solidFill>
          <a:ln w="508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5477256" y="1975104"/>
            <a:ext cx="896112" cy="256032"/>
          </a:xfrm>
          <a:prstGeom prst="rect">
            <a:avLst/>
          </a:prstGeom>
          <a:solidFill>
            <a:srgbClr val="E6F5EF"/>
          </a:solidFill>
          <a:ln w="508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477256" y="1975104"/>
            <a:ext cx="896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875A"/>
                </a:solidFill>
              </a:rPr>
              <a:t>100% Auto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73952" y="1883664"/>
            <a:ext cx="1188720" cy="438912"/>
          </a:xfrm>
          <a:prstGeom prst="rect">
            <a:avLst/>
          </a:prstGeom>
          <a:solidFill>
            <a:srgbClr val="F8FAFC"/>
          </a:solidFill>
          <a:ln w="508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547104" y="1965960"/>
            <a:ext cx="1097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5A73"/>
                </a:solidFill>
              </a:rPr>
              <a:t>UAT · PROD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662672" y="1883664"/>
            <a:ext cx="1417320" cy="438912"/>
          </a:xfrm>
          <a:prstGeom prst="rect">
            <a:avLst/>
          </a:prstGeom>
          <a:solidFill>
            <a:srgbClr val="F8FAFC"/>
          </a:solidFill>
          <a:ln w="508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735824" y="1965960"/>
            <a:ext cx="1325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5A73"/>
                </a:solidFill>
              </a:rPr>
              <a:t>QA Lead + Dev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56032" y="2322576"/>
            <a:ext cx="2011680" cy="438912"/>
          </a:xfrm>
          <a:prstGeom prst="rect">
            <a:avLst/>
          </a:prstGeom>
          <a:solidFill>
            <a:srgbClr val="FFFFFF"/>
          </a:solidFill>
          <a:ln w="508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329184" y="2496312"/>
            <a:ext cx="91440" cy="91440"/>
          </a:xfrm>
          <a:prstGeom prst="rect">
            <a:avLst/>
          </a:prstGeom>
          <a:solidFill>
            <a:srgbClr val="5243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75488" y="2404872"/>
            <a:ext cx="1755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2137"/>
                </a:solidFill>
              </a:rPr>
              <a:t>Smoke Testing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267712" y="2322576"/>
            <a:ext cx="868680" cy="438912"/>
          </a:xfrm>
          <a:prstGeom prst="rect">
            <a:avLst/>
          </a:prstGeom>
          <a:solidFill>
            <a:srgbClr val="FFFFFF"/>
          </a:solidFill>
          <a:ln w="508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2340864" y="2404872"/>
            <a:ext cx="777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243AA"/>
                </a:solidFill>
              </a:rPr>
              <a:t>Service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136392" y="2322576"/>
            <a:ext cx="2286000" cy="438912"/>
          </a:xfrm>
          <a:prstGeom prst="rect">
            <a:avLst/>
          </a:prstGeom>
          <a:solidFill>
            <a:srgbClr val="FFFFFF"/>
          </a:solidFill>
          <a:ln w="508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3209544" y="2404872"/>
            <a:ext cx="2194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5A73"/>
                </a:solidFill>
              </a:rPr>
              <a:t>Cypress (subset crítico)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22392" y="2322576"/>
            <a:ext cx="1051560" cy="438912"/>
          </a:xfrm>
          <a:prstGeom prst="rect">
            <a:avLst/>
          </a:prstGeom>
          <a:solidFill>
            <a:srgbClr val="FFFFFF"/>
          </a:solidFill>
          <a:ln w="508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5477256" y="2414016"/>
            <a:ext cx="896112" cy="256032"/>
          </a:xfrm>
          <a:prstGeom prst="rect">
            <a:avLst/>
          </a:prstGeom>
          <a:solidFill>
            <a:srgbClr val="E6F5EF"/>
          </a:solidFill>
          <a:ln w="508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5477256" y="2414016"/>
            <a:ext cx="896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875A"/>
                </a:solidFill>
              </a:rPr>
              <a:t>100% Auto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473952" y="2322576"/>
            <a:ext cx="1188720" cy="438912"/>
          </a:xfrm>
          <a:prstGeom prst="rect">
            <a:avLst/>
          </a:prstGeom>
          <a:solidFill>
            <a:srgbClr val="FFFFFF"/>
          </a:solidFill>
          <a:ln w="508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547104" y="2404872"/>
            <a:ext cx="1097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5A73"/>
                </a:solidFill>
              </a:rPr>
              <a:t>UAT · PROD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662672" y="2322576"/>
            <a:ext cx="1417320" cy="438912"/>
          </a:xfrm>
          <a:prstGeom prst="rect">
            <a:avLst/>
          </a:prstGeom>
          <a:solidFill>
            <a:srgbClr val="FFFFFF"/>
          </a:solidFill>
          <a:ln w="508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7735824" y="2404872"/>
            <a:ext cx="1325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5A73"/>
                </a:solidFill>
              </a:rPr>
              <a:t>QA Lead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56032" y="2761488"/>
            <a:ext cx="2011680" cy="438912"/>
          </a:xfrm>
          <a:prstGeom prst="rect">
            <a:avLst/>
          </a:prstGeom>
          <a:solidFill>
            <a:srgbClr val="F8FAFC"/>
          </a:solidFill>
          <a:ln w="508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329184" y="2935224"/>
            <a:ext cx="91440" cy="91440"/>
          </a:xfrm>
          <a:prstGeom prst="rect">
            <a:avLst/>
          </a:prstGeom>
          <a:solidFill>
            <a:srgbClr val="5243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475488" y="2843784"/>
            <a:ext cx="1755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2137"/>
                </a:solidFill>
              </a:rPr>
              <a:t>Integration Testing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267712" y="2761488"/>
            <a:ext cx="868680" cy="438912"/>
          </a:xfrm>
          <a:prstGeom prst="rect">
            <a:avLst/>
          </a:prstGeom>
          <a:solidFill>
            <a:srgbClr val="F8FAFC"/>
          </a:solidFill>
          <a:ln w="508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2340864" y="2843784"/>
            <a:ext cx="777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243AA"/>
                </a:solidFill>
              </a:rPr>
              <a:t>Service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136392" y="2761488"/>
            <a:ext cx="2286000" cy="438912"/>
          </a:xfrm>
          <a:prstGeom prst="rect">
            <a:avLst/>
          </a:prstGeom>
          <a:solidFill>
            <a:srgbClr val="F8FAFC"/>
          </a:solidFill>
          <a:ln w="508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3209544" y="2843784"/>
            <a:ext cx="2194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5A73"/>
                </a:solidFill>
              </a:rPr>
              <a:t>Postman · Newman · n8n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22392" y="2761488"/>
            <a:ext cx="1051560" cy="438912"/>
          </a:xfrm>
          <a:prstGeom prst="rect">
            <a:avLst/>
          </a:prstGeom>
          <a:solidFill>
            <a:srgbClr val="F8FAFC"/>
          </a:solidFill>
          <a:ln w="508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ectangle 67"/>
          <p:cNvSpPr/>
          <p:nvPr/>
        </p:nvSpPr>
        <p:spPr>
          <a:xfrm>
            <a:off x="5477256" y="2852928"/>
            <a:ext cx="896112" cy="256032"/>
          </a:xfrm>
          <a:prstGeom prst="rect">
            <a:avLst/>
          </a:prstGeom>
          <a:solidFill>
            <a:srgbClr val="EBF4FF"/>
          </a:solidFill>
          <a:ln w="508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5477256" y="2852928"/>
            <a:ext cx="896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66CC"/>
                </a:solidFill>
              </a:rPr>
              <a:t>Parcial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473952" y="2761488"/>
            <a:ext cx="1188720" cy="438912"/>
          </a:xfrm>
          <a:prstGeom prst="rect">
            <a:avLst/>
          </a:prstGeom>
          <a:solidFill>
            <a:srgbClr val="F8FAFC"/>
          </a:solidFill>
          <a:ln w="508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6547104" y="2843784"/>
            <a:ext cx="1097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5A73"/>
                </a:solidFill>
              </a:rPr>
              <a:t>DEV·UAT·PROD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662672" y="2761488"/>
            <a:ext cx="1417320" cy="438912"/>
          </a:xfrm>
          <a:prstGeom prst="rect">
            <a:avLst/>
          </a:prstGeom>
          <a:solidFill>
            <a:srgbClr val="F8FAFC"/>
          </a:solidFill>
          <a:ln w="508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7735824" y="2843784"/>
            <a:ext cx="13258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3D5A73"/>
                </a:solidFill>
              </a:rPr>
              <a:t>QA Lead +DevOps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56032" y="3200400"/>
            <a:ext cx="2011680" cy="438912"/>
          </a:xfrm>
          <a:prstGeom prst="rect">
            <a:avLst/>
          </a:prstGeom>
          <a:solidFill>
            <a:srgbClr val="FFFFFF"/>
          </a:solidFill>
          <a:ln w="508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/>
          <p:cNvSpPr/>
          <p:nvPr/>
        </p:nvSpPr>
        <p:spPr>
          <a:xfrm>
            <a:off x="329184" y="3374136"/>
            <a:ext cx="91440" cy="91440"/>
          </a:xfrm>
          <a:prstGeom prst="rect">
            <a:avLst/>
          </a:prstGeom>
          <a:solidFill>
            <a:srgbClr val="5243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475488" y="3282696"/>
            <a:ext cx="1755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2137"/>
                </a:solidFill>
              </a:rPr>
              <a:t>Performance Testing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267712" y="3200400"/>
            <a:ext cx="868680" cy="438912"/>
          </a:xfrm>
          <a:prstGeom prst="rect">
            <a:avLst/>
          </a:prstGeom>
          <a:solidFill>
            <a:srgbClr val="FFFFFF"/>
          </a:solidFill>
          <a:ln w="508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2340864" y="3282696"/>
            <a:ext cx="777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243AA"/>
                </a:solidFill>
              </a:rPr>
              <a:t>Service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136392" y="3200400"/>
            <a:ext cx="2286000" cy="438912"/>
          </a:xfrm>
          <a:prstGeom prst="rect">
            <a:avLst/>
          </a:prstGeom>
          <a:solidFill>
            <a:srgbClr val="FFFFFF"/>
          </a:solidFill>
          <a:ln w="508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3209544" y="3282696"/>
            <a:ext cx="2194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5A73"/>
                </a:solidFill>
              </a:rPr>
              <a:t>Lighthouse · k6 · Artillery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422392" y="3200400"/>
            <a:ext cx="1051560" cy="438912"/>
          </a:xfrm>
          <a:prstGeom prst="rect">
            <a:avLst/>
          </a:prstGeom>
          <a:solidFill>
            <a:srgbClr val="FFFFFF"/>
          </a:solidFill>
          <a:ln w="508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ectangle 81"/>
          <p:cNvSpPr/>
          <p:nvPr/>
        </p:nvSpPr>
        <p:spPr>
          <a:xfrm>
            <a:off x="5477256" y="3291840"/>
            <a:ext cx="896112" cy="256032"/>
          </a:xfrm>
          <a:prstGeom prst="rect">
            <a:avLst/>
          </a:prstGeom>
          <a:solidFill>
            <a:srgbClr val="EBF4FF"/>
          </a:solidFill>
          <a:ln w="508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5477256" y="3291840"/>
            <a:ext cx="896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66CC"/>
                </a:solidFill>
              </a:rPr>
              <a:t>Parcial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473952" y="3200400"/>
            <a:ext cx="1188720" cy="438912"/>
          </a:xfrm>
          <a:prstGeom prst="rect">
            <a:avLst/>
          </a:prstGeom>
          <a:solidFill>
            <a:srgbClr val="FFFFFF"/>
          </a:solidFill>
          <a:ln w="508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6547104" y="3282696"/>
            <a:ext cx="1097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5A73"/>
                </a:solidFill>
              </a:rPr>
              <a:t>UAT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690104" y="3209544"/>
            <a:ext cx="1417320" cy="438912"/>
          </a:xfrm>
          <a:prstGeom prst="rect">
            <a:avLst/>
          </a:prstGeom>
          <a:solidFill>
            <a:srgbClr val="FFFFFF"/>
          </a:solidFill>
          <a:ln w="508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7735824" y="3282696"/>
            <a:ext cx="13258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3D5A73"/>
                </a:solidFill>
              </a:rPr>
              <a:t>QA Lead +DevOps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56032" y="3639312"/>
            <a:ext cx="2011680" cy="438912"/>
          </a:xfrm>
          <a:prstGeom prst="rect">
            <a:avLst/>
          </a:prstGeom>
          <a:solidFill>
            <a:srgbClr val="F8FAFC"/>
          </a:solidFill>
          <a:ln w="508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ectangle 88"/>
          <p:cNvSpPr/>
          <p:nvPr/>
        </p:nvSpPr>
        <p:spPr>
          <a:xfrm>
            <a:off x="329184" y="3813048"/>
            <a:ext cx="91440" cy="91440"/>
          </a:xfrm>
          <a:prstGeom prst="rect">
            <a:avLst/>
          </a:prstGeom>
          <a:solidFill>
            <a:srgbClr val="946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475488" y="3721608"/>
            <a:ext cx="1755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2137"/>
                </a:solidFill>
              </a:rPr>
              <a:t>Regression Testing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267712" y="3639312"/>
            <a:ext cx="868680" cy="438912"/>
          </a:xfrm>
          <a:prstGeom prst="rect">
            <a:avLst/>
          </a:prstGeom>
          <a:solidFill>
            <a:srgbClr val="F8FAFC"/>
          </a:solidFill>
          <a:ln w="508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2340864" y="3721608"/>
            <a:ext cx="777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46200"/>
                </a:solidFill>
              </a:rPr>
              <a:t>E2E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136392" y="3639312"/>
            <a:ext cx="2286000" cy="438912"/>
          </a:xfrm>
          <a:prstGeom prst="rect">
            <a:avLst/>
          </a:prstGeom>
          <a:solidFill>
            <a:srgbClr val="F8FAFC"/>
          </a:solidFill>
          <a:ln w="508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3209544" y="3721608"/>
            <a:ext cx="2194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5A73"/>
                </a:solidFill>
              </a:rPr>
              <a:t>Cypress · TestRail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422392" y="3639312"/>
            <a:ext cx="1051560" cy="438912"/>
          </a:xfrm>
          <a:prstGeom prst="rect">
            <a:avLst/>
          </a:prstGeom>
          <a:solidFill>
            <a:srgbClr val="F8FAFC"/>
          </a:solidFill>
          <a:ln w="508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Rectangle 95"/>
          <p:cNvSpPr/>
          <p:nvPr/>
        </p:nvSpPr>
        <p:spPr>
          <a:xfrm>
            <a:off x="5477256" y="3730752"/>
            <a:ext cx="896112" cy="256032"/>
          </a:xfrm>
          <a:prstGeom prst="rect">
            <a:avLst/>
          </a:prstGeom>
          <a:solidFill>
            <a:srgbClr val="EBF4FF"/>
          </a:solidFill>
          <a:ln w="508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5477256" y="3730752"/>
            <a:ext cx="896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66CC"/>
                </a:solidFill>
              </a:rPr>
              <a:t>Parcial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473952" y="3639312"/>
            <a:ext cx="1188720" cy="438912"/>
          </a:xfrm>
          <a:prstGeom prst="rect">
            <a:avLst/>
          </a:prstGeom>
          <a:solidFill>
            <a:srgbClr val="F8FAFC"/>
          </a:solidFill>
          <a:ln w="508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6547104" y="3721608"/>
            <a:ext cx="1097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5A73"/>
                </a:solidFill>
              </a:rPr>
              <a:t>UAT · PROD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662672" y="3639312"/>
            <a:ext cx="1417320" cy="438912"/>
          </a:xfrm>
          <a:prstGeom prst="rect">
            <a:avLst/>
          </a:prstGeom>
          <a:solidFill>
            <a:srgbClr val="F8FAFC"/>
          </a:solidFill>
          <a:ln w="508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7735824" y="3721608"/>
            <a:ext cx="1325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5A73"/>
                </a:solidFill>
              </a:rPr>
              <a:t>QA Lead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56032" y="4078224"/>
            <a:ext cx="2011680" cy="438912"/>
          </a:xfrm>
          <a:prstGeom prst="rect">
            <a:avLst/>
          </a:prstGeom>
          <a:solidFill>
            <a:srgbClr val="FFFFFF"/>
          </a:solidFill>
          <a:ln w="508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Rectangle 102"/>
          <p:cNvSpPr/>
          <p:nvPr/>
        </p:nvSpPr>
        <p:spPr>
          <a:xfrm>
            <a:off x="329184" y="4251960"/>
            <a:ext cx="91440" cy="91440"/>
          </a:xfrm>
          <a:prstGeom prst="rect">
            <a:avLst/>
          </a:prstGeom>
          <a:solidFill>
            <a:srgbClr val="946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475488" y="4160520"/>
            <a:ext cx="1755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2137"/>
                </a:solidFill>
              </a:rPr>
              <a:t>Accessibility Testing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2267712" y="4078224"/>
            <a:ext cx="868680" cy="438912"/>
          </a:xfrm>
          <a:prstGeom prst="rect">
            <a:avLst/>
          </a:prstGeom>
          <a:solidFill>
            <a:srgbClr val="FFFFFF"/>
          </a:solidFill>
          <a:ln w="508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2340864" y="4160520"/>
            <a:ext cx="777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46200"/>
                </a:solidFill>
              </a:rPr>
              <a:t>E2E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3136392" y="4078224"/>
            <a:ext cx="2286000" cy="438912"/>
          </a:xfrm>
          <a:prstGeom prst="rect">
            <a:avLst/>
          </a:prstGeom>
          <a:solidFill>
            <a:srgbClr val="FFFFFF"/>
          </a:solidFill>
          <a:ln w="508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/>
          <p:cNvSpPr txBox="1"/>
          <p:nvPr/>
        </p:nvSpPr>
        <p:spPr>
          <a:xfrm>
            <a:off x="3209544" y="4160520"/>
            <a:ext cx="2194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5A73"/>
                </a:solidFill>
              </a:rPr>
              <a:t>cypress-axe · NVDA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5422392" y="4078224"/>
            <a:ext cx="1051560" cy="438912"/>
          </a:xfrm>
          <a:prstGeom prst="rect">
            <a:avLst/>
          </a:prstGeom>
          <a:solidFill>
            <a:srgbClr val="FFFFFF"/>
          </a:solidFill>
          <a:ln w="508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Rectangle 109"/>
          <p:cNvSpPr/>
          <p:nvPr/>
        </p:nvSpPr>
        <p:spPr>
          <a:xfrm>
            <a:off x="5477256" y="4169664"/>
            <a:ext cx="896112" cy="256032"/>
          </a:xfrm>
          <a:prstGeom prst="rect">
            <a:avLst/>
          </a:prstGeom>
          <a:solidFill>
            <a:srgbClr val="EBF4FF"/>
          </a:solidFill>
          <a:ln w="508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5477256" y="4169664"/>
            <a:ext cx="896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66CC"/>
                </a:solidFill>
              </a:rPr>
              <a:t>Parcial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473952" y="4078224"/>
            <a:ext cx="1188720" cy="438912"/>
          </a:xfrm>
          <a:prstGeom prst="rect">
            <a:avLst/>
          </a:prstGeom>
          <a:solidFill>
            <a:srgbClr val="FFFFFF"/>
          </a:solidFill>
          <a:ln w="508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6547104" y="4160520"/>
            <a:ext cx="1097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5A73"/>
                </a:solidFill>
              </a:rPr>
              <a:t>UAT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662672" y="4078224"/>
            <a:ext cx="1417320" cy="438912"/>
          </a:xfrm>
          <a:prstGeom prst="rect">
            <a:avLst/>
          </a:prstGeom>
          <a:solidFill>
            <a:srgbClr val="FFFFFF"/>
          </a:solidFill>
          <a:ln w="508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7735824" y="4160520"/>
            <a:ext cx="1325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5A73"/>
                </a:solidFill>
              </a:rPr>
              <a:t>QA Lead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256032" y="4517136"/>
            <a:ext cx="2011680" cy="438912"/>
          </a:xfrm>
          <a:prstGeom prst="rect">
            <a:avLst/>
          </a:prstGeom>
          <a:solidFill>
            <a:srgbClr val="F8FAFC"/>
          </a:solidFill>
          <a:ln w="508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Rectangle 116"/>
          <p:cNvSpPr/>
          <p:nvPr/>
        </p:nvSpPr>
        <p:spPr>
          <a:xfrm>
            <a:off x="329184" y="4690872"/>
            <a:ext cx="91440" cy="91440"/>
          </a:xfrm>
          <a:prstGeom prst="rect">
            <a:avLst/>
          </a:prstGeom>
          <a:solidFill>
            <a:srgbClr val="946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TextBox 117"/>
          <p:cNvSpPr txBox="1"/>
          <p:nvPr/>
        </p:nvSpPr>
        <p:spPr>
          <a:xfrm>
            <a:off x="475488" y="4599432"/>
            <a:ext cx="1755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2137"/>
                </a:solidFill>
              </a:rPr>
              <a:t>Security Testing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2267712" y="4517136"/>
            <a:ext cx="868680" cy="438912"/>
          </a:xfrm>
          <a:prstGeom prst="rect">
            <a:avLst/>
          </a:prstGeom>
          <a:solidFill>
            <a:srgbClr val="F8FAFC"/>
          </a:solidFill>
          <a:ln w="508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TextBox 119"/>
          <p:cNvSpPr txBox="1"/>
          <p:nvPr/>
        </p:nvSpPr>
        <p:spPr>
          <a:xfrm>
            <a:off x="2340864" y="4599432"/>
            <a:ext cx="777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46200"/>
                </a:solidFill>
              </a:rPr>
              <a:t>E2E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3136392" y="4517136"/>
            <a:ext cx="2286000" cy="438912"/>
          </a:xfrm>
          <a:prstGeom prst="rect">
            <a:avLst/>
          </a:prstGeom>
          <a:solidFill>
            <a:srgbClr val="F8FAFC"/>
          </a:solidFill>
          <a:ln w="508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TextBox 121"/>
          <p:cNvSpPr txBox="1"/>
          <p:nvPr/>
        </p:nvSpPr>
        <p:spPr>
          <a:xfrm>
            <a:off x="3209544" y="4599432"/>
            <a:ext cx="2194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5A73"/>
                </a:solidFill>
              </a:rPr>
              <a:t>curl · openssl · OWASP ZAP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5422392" y="4517136"/>
            <a:ext cx="1051560" cy="438912"/>
          </a:xfrm>
          <a:prstGeom prst="rect">
            <a:avLst/>
          </a:prstGeom>
          <a:solidFill>
            <a:srgbClr val="F8FAFC"/>
          </a:solidFill>
          <a:ln w="508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5477256" y="4608576"/>
            <a:ext cx="896112" cy="256032"/>
          </a:xfrm>
          <a:prstGeom prst="rect">
            <a:avLst/>
          </a:prstGeom>
          <a:solidFill>
            <a:srgbClr val="EBF4FF"/>
          </a:solidFill>
          <a:ln w="508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TextBox 124"/>
          <p:cNvSpPr txBox="1"/>
          <p:nvPr/>
        </p:nvSpPr>
        <p:spPr>
          <a:xfrm>
            <a:off x="5477256" y="4608576"/>
            <a:ext cx="896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66CC"/>
                </a:solidFill>
              </a:rPr>
              <a:t>Parcial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6473952" y="4517136"/>
            <a:ext cx="1188720" cy="438912"/>
          </a:xfrm>
          <a:prstGeom prst="rect">
            <a:avLst/>
          </a:prstGeom>
          <a:solidFill>
            <a:srgbClr val="F8FAFC"/>
          </a:solidFill>
          <a:ln w="508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6547104" y="4599432"/>
            <a:ext cx="1097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5A73"/>
                </a:solidFill>
              </a:rPr>
              <a:t>UAT · PROD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7662672" y="4517136"/>
            <a:ext cx="1417320" cy="438912"/>
          </a:xfrm>
          <a:prstGeom prst="rect">
            <a:avLst/>
          </a:prstGeom>
          <a:solidFill>
            <a:srgbClr val="F8FAFC"/>
          </a:solidFill>
          <a:ln w="508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7735824" y="4599432"/>
            <a:ext cx="1325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5A73"/>
                </a:solidFill>
              </a:rPr>
              <a:t>QA Lead + Dev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256032" y="4956048"/>
            <a:ext cx="2011680" cy="438912"/>
          </a:xfrm>
          <a:prstGeom prst="rect">
            <a:avLst/>
          </a:prstGeom>
          <a:solidFill>
            <a:srgbClr val="FFFFFF"/>
          </a:solidFill>
          <a:ln w="508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Rectangle 130"/>
          <p:cNvSpPr/>
          <p:nvPr/>
        </p:nvSpPr>
        <p:spPr>
          <a:xfrm>
            <a:off x="329184" y="5129784"/>
            <a:ext cx="91440" cy="91440"/>
          </a:xfrm>
          <a:prstGeom prst="rect">
            <a:avLst/>
          </a:prstGeom>
          <a:solidFill>
            <a:srgbClr val="BF2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TextBox 131"/>
          <p:cNvSpPr txBox="1"/>
          <p:nvPr/>
        </p:nvSpPr>
        <p:spPr>
          <a:xfrm>
            <a:off x="475488" y="5038344"/>
            <a:ext cx="1755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2137"/>
                </a:solidFill>
              </a:rPr>
              <a:t>Manual Testing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2267712" y="4956048"/>
            <a:ext cx="868680" cy="438912"/>
          </a:xfrm>
          <a:prstGeom prst="rect">
            <a:avLst/>
          </a:prstGeom>
          <a:solidFill>
            <a:srgbClr val="FFFFFF"/>
          </a:solidFill>
          <a:ln w="508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/>
          <p:cNvSpPr txBox="1"/>
          <p:nvPr/>
        </p:nvSpPr>
        <p:spPr>
          <a:xfrm>
            <a:off x="2340864" y="5038344"/>
            <a:ext cx="777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F2600"/>
                </a:solidFill>
              </a:rPr>
              <a:t>Cima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3136392" y="4956048"/>
            <a:ext cx="2286000" cy="438912"/>
          </a:xfrm>
          <a:prstGeom prst="rect">
            <a:avLst/>
          </a:prstGeom>
          <a:solidFill>
            <a:srgbClr val="FFFFFF"/>
          </a:solidFill>
          <a:ln w="508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TextBox 135"/>
          <p:cNvSpPr txBox="1"/>
          <p:nvPr/>
        </p:nvSpPr>
        <p:spPr>
          <a:xfrm>
            <a:off x="3209544" y="5038344"/>
            <a:ext cx="2194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5A73"/>
                </a:solidFill>
              </a:rPr>
              <a:t>Navegador · DevTools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5422392" y="4956048"/>
            <a:ext cx="1051560" cy="438912"/>
          </a:xfrm>
          <a:prstGeom prst="rect">
            <a:avLst/>
          </a:prstGeom>
          <a:solidFill>
            <a:srgbClr val="FFFFFF"/>
          </a:solidFill>
          <a:ln w="508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Rectangle 137"/>
          <p:cNvSpPr/>
          <p:nvPr/>
        </p:nvSpPr>
        <p:spPr>
          <a:xfrm>
            <a:off x="5477256" y="5047488"/>
            <a:ext cx="896112" cy="256032"/>
          </a:xfrm>
          <a:prstGeom prst="rect">
            <a:avLst/>
          </a:prstGeom>
          <a:solidFill>
            <a:srgbClr val="FFF3CD"/>
          </a:solidFill>
          <a:ln w="508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TextBox 138"/>
          <p:cNvSpPr txBox="1"/>
          <p:nvPr/>
        </p:nvSpPr>
        <p:spPr>
          <a:xfrm>
            <a:off x="5477256" y="5047488"/>
            <a:ext cx="896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946200"/>
                </a:solidFill>
              </a:rPr>
              <a:t>Manual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473952" y="4956048"/>
            <a:ext cx="1188720" cy="438912"/>
          </a:xfrm>
          <a:prstGeom prst="rect">
            <a:avLst/>
          </a:prstGeom>
          <a:solidFill>
            <a:srgbClr val="FFFFFF"/>
          </a:solidFill>
          <a:ln w="508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6547104" y="5038344"/>
            <a:ext cx="1097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5A73"/>
                </a:solidFill>
              </a:rPr>
              <a:t>UAT · PROD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7662672" y="4956048"/>
            <a:ext cx="1417320" cy="438912"/>
          </a:xfrm>
          <a:prstGeom prst="rect">
            <a:avLst/>
          </a:prstGeom>
          <a:solidFill>
            <a:srgbClr val="FFFFFF"/>
          </a:solidFill>
          <a:ln w="508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7735824" y="5038344"/>
            <a:ext cx="1325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5A73"/>
                </a:solidFill>
              </a:rPr>
              <a:t>QA Lead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256032" y="5394960"/>
            <a:ext cx="2011680" cy="438912"/>
          </a:xfrm>
          <a:prstGeom prst="rect">
            <a:avLst/>
          </a:prstGeom>
          <a:solidFill>
            <a:srgbClr val="F8FAFC"/>
          </a:solidFill>
          <a:ln w="508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Rectangle 144"/>
          <p:cNvSpPr/>
          <p:nvPr/>
        </p:nvSpPr>
        <p:spPr>
          <a:xfrm>
            <a:off x="329184" y="5568696"/>
            <a:ext cx="91440" cy="91440"/>
          </a:xfrm>
          <a:prstGeom prst="rect">
            <a:avLst/>
          </a:prstGeom>
          <a:solidFill>
            <a:srgbClr val="BF2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TextBox 145"/>
          <p:cNvSpPr txBox="1"/>
          <p:nvPr/>
        </p:nvSpPr>
        <p:spPr>
          <a:xfrm>
            <a:off x="475488" y="5477256"/>
            <a:ext cx="1755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2137"/>
                </a:solidFill>
              </a:rPr>
              <a:t>Exploratory Testing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2267712" y="5394960"/>
            <a:ext cx="868680" cy="438912"/>
          </a:xfrm>
          <a:prstGeom prst="rect">
            <a:avLst/>
          </a:prstGeom>
          <a:solidFill>
            <a:srgbClr val="F8FAFC"/>
          </a:solidFill>
          <a:ln w="508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8" name="TextBox 147"/>
          <p:cNvSpPr txBox="1"/>
          <p:nvPr/>
        </p:nvSpPr>
        <p:spPr>
          <a:xfrm>
            <a:off x="2340864" y="5477256"/>
            <a:ext cx="777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F2600"/>
                </a:solidFill>
              </a:rPr>
              <a:t>Cima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3136392" y="5394960"/>
            <a:ext cx="2286000" cy="438912"/>
          </a:xfrm>
          <a:prstGeom prst="rect">
            <a:avLst/>
          </a:prstGeom>
          <a:solidFill>
            <a:srgbClr val="F8FAFC"/>
          </a:solidFill>
          <a:ln w="508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TextBox 149"/>
          <p:cNvSpPr txBox="1"/>
          <p:nvPr/>
        </p:nvSpPr>
        <p:spPr>
          <a:xfrm>
            <a:off x="3209544" y="5477256"/>
            <a:ext cx="2194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5A73"/>
                </a:solidFill>
              </a:rPr>
              <a:t>Charter de exploración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5422392" y="5394960"/>
            <a:ext cx="1051560" cy="438912"/>
          </a:xfrm>
          <a:prstGeom prst="rect">
            <a:avLst/>
          </a:prstGeom>
          <a:solidFill>
            <a:srgbClr val="F8FAFC"/>
          </a:solidFill>
          <a:ln w="508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Rectangle 151"/>
          <p:cNvSpPr/>
          <p:nvPr/>
        </p:nvSpPr>
        <p:spPr>
          <a:xfrm>
            <a:off x="5477256" y="5486400"/>
            <a:ext cx="896112" cy="256032"/>
          </a:xfrm>
          <a:prstGeom prst="rect">
            <a:avLst/>
          </a:prstGeom>
          <a:solidFill>
            <a:srgbClr val="FFF3CD"/>
          </a:solidFill>
          <a:ln w="508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TextBox 152"/>
          <p:cNvSpPr txBox="1"/>
          <p:nvPr/>
        </p:nvSpPr>
        <p:spPr>
          <a:xfrm>
            <a:off x="5477256" y="5486400"/>
            <a:ext cx="896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946200"/>
                </a:solidFill>
              </a:rPr>
              <a:t>Manual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6473952" y="5394960"/>
            <a:ext cx="1188720" cy="438912"/>
          </a:xfrm>
          <a:prstGeom prst="rect">
            <a:avLst/>
          </a:prstGeom>
          <a:solidFill>
            <a:srgbClr val="F8FAFC"/>
          </a:solidFill>
          <a:ln w="508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TextBox 154"/>
          <p:cNvSpPr txBox="1"/>
          <p:nvPr/>
        </p:nvSpPr>
        <p:spPr>
          <a:xfrm>
            <a:off x="6547104" y="5477256"/>
            <a:ext cx="1097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5A73"/>
                </a:solidFill>
              </a:rPr>
              <a:t>UAT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7662672" y="5394960"/>
            <a:ext cx="1417320" cy="438912"/>
          </a:xfrm>
          <a:prstGeom prst="rect">
            <a:avLst/>
          </a:prstGeom>
          <a:solidFill>
            <a:srgbClr val="F8FAFC"/>
          </a:solidFill>
          <a:ln w="508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TextBox 156"/>
          <p:cNvSpPr txBox="1"/>
          <p:nvPr/>
        </p:nvSpPr>
        <p:spPr>
          <a:xfrm>
            <a:off x="7735824" y="5477256"/>
            <a:ext cx="1325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5A73"/>
                </a:solidFill>
              </a:rPr>
              <a:t>QA Lead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256032" y="5833872"/>
            <a:ext cx="2011680" cy="438912"/>
          </a:xfrm>
          <a:prstGeom prst="rect">
            <a:avLst/>
          </a:prstGeom>
          <a:solidFill>
            <a:srgbClr val="FFFFFF"/>
          </a:solidFill>
          <a:ln w="508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Rectangle 158"/>
          <p:cNvSpPr/>
          <p:nvPr/>
        </p:nvSpPr>
        <p:spPr>
          <a:xfrm>
            <a:off x="329184" y="6007608"/>
            <a:ext cx="91440" cy="91440"/>
          </a:xfrm>
          <a:prstGeom prst="rect">
            <a:avLst/>
          </a:prstGeom>
          <a:solidFill>
            <a:srgbClr val="BF2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0" name="TextBox 159"/>
          <p:cNvSpPr txBox="1"/>
          <p:nvPr/>
        </p:nvSpPr>
        <p:spPr>
          <a:xfrm>
            <a:off x="475488" y="5916168"/>
            <a:ext cx="1755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2137"/>
                </a:solidFill>
              </a:rPr>
              <a:t>Usability Testing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2267712" y="5833872"/>
            <a:ext cx="868680" cy="438912"/>
          </a:xfrm>
          <a:prstGeom prst="rect">
            <a:avLst/>
          </a:prstGeom>
          <a:solidFill>
            <a:srgbClr val="FFFFFF"/>
          </a:solidFill>
          <a:ln w="508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TextBox 161"/>
          <p:cNvSpPr txBox="1"/>
          <p:nvPr/>
        </p:nvSpPr>
        <p:spPr>
          <a:xfrm>
            <a:off x="2340864" y="5916168"/>
            <a:ext cx="777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F2600"/>
                </a:solidFill>
              </a:rPr>
              <a:t>Cima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3136392" y="5833872"/>
            <a:ext cx="2286000" cy="438912"/>
          </a:xfrm>
          <a:prstGeom prst="rect">
            <a:avLst/>
          </a:prstGeom>
          <a:solidFill>
            <a:srgbClr val="FFFFFF"/>
          </a:solidFill>
          <a:ln w="508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4" name="TextBox 163"/>
          <p:cNvSpPr txBox="1"/>
          <p:nvPr/>
        </p:nvSpPr>
        <p:spPr>
          <a:xfrm>
            <a:off x="3209544" y="5916168"/>
            <a:ext cx="2194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5A73"/>
                </a:solidFill>
              </a:rPr>
              <a:t>Usuarios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5422392" y="5833872"/>
            <a:ext cx="1051560" cy="438912"/>
          </a:xfrm>
          <a:prstGeom prst="rect">
            <a:avLst/>
          </a:prstGeom>
          <a:solidFill>
            <a:srgbClr val="FFFFFF"/>
          </a:solidFill>
          <a:ln w="508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Rectangle 165"/>
          <p:cNvSpPr/>
          <p:nvPr/>
        </p:nvSpPr>
        <p:spPr>
          <a:xfrm>
            <a:off x="5477256" y="5925312"/>
            <a:ext cx="896112" cy="256032"/>
          </a:xfrm>
          <a:prstGeom prst="rect">
            <a:avLst/>
          </a:prstGeom>
          <a:solidFill>
            <a:srgbClr val="FFF3CD"/>
          </a:solidFill>
          <a:ln w="508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5477256" y="5925312"/>
            <a:ext cx="896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946200"/>
                </a:solidFill>
              </a:rPr>
              <a:t>Manual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473952" y="5833872"/>
            <a:ext cx="1188720" cy="438912"/>
          </a:xfrm>
          <a:prstGeom prst="rect">
            <a:avLst/>
          </a:prstGeom>
          <a:solidFill>
            <a:srgbClr val="FFFFFF"/>
          </a:solidFill>
          <a:ln w="508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9" name="TextBox 168"/>
          <p:cNvSpPr txBox="1"/>
          <p:nvPr/>
        </p:nvSpPr>
        <p:spPr>
          <a:xfrm>
            <a:off x="6547104" y="5916168"/>
            <a:ext cx="1097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5A73"/>
                </a:solidFill>
              </a:rPr>
              <a:t>UAT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7662672" y="5833872"/>
            <a:ext cx="1417320" cy="438912"/>
          </a:xfrm>
          <a:prstGeom prst="rect">
            <a:avLst/>
          </a:prstGeom>
          <a:solidFill>
            <a:srgbClr val="FFFFFF"/>
          </a:solidFill>
          <a:ln w="5080">
            <a:solidFill>
              <a:srgbClr val="D8E8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TextBox 170"/>
          <p:cNvSpPr txBox="1"/>
          <p:nvPr/>
        </p:nvSpPr>
        <p:spPr>
          <a:xfrm>
            <a:off x="7735824" y="5916168"/>
            <a:ext cx="1325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5A73"/>
                </a:solidFill>
              </a:rPr>
              <a:t>QA Lead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04E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TextBox 172"/>
          <p:cNvSpPr txBox="1"/>
          <p:nvPr/>
        </p:nvSpPr>
        <p:spPr>
          <a:xfrm>
            <a:off x="365760" y="6556248"/>
            <a:ext cx="11457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BUPA Chile  ·  QA Lead: Jaime Quiñelen Villar  ·  Pirámide de Testing  ·  Mayo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533</Words>
  <Application>Microsoft Office PowerPoint</Application>
  <PresentationFormat>Personalizado</PresentationFormat>
  <Paragraphs>174</Paragraphs>
  <Slides>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Jaime Quiñelen</cp:lastModifiedBy>
  <cp:revision>3</cp:revision>
  <dcterms:created xsi:type="dcterms:W3CDTF">2013-01-27T09:14:16Z</dcterms:created>
  <dcterms:modified xsi:type="dcterms:W3CDTF">2026-05-23T23:52:38Z</dcterms:modified>
  <cp:category/>
</cp:coreProperties>
</file>