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0" y="1371600"/>
            <a:ext cx="8229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0" y="1371600"/>
            <a:ext cx="64008" cy="42062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16916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2137"/>
                </a:solidFill>
              </a:rPr>
              <a:t>Pirámide de Testing — BUPA Chile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560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D5A73"/>
                </a:solidFill>
              </a:rPr>
              <a:t>Modelo Cohn  ·  11 Tipos de Prueba  ·  Stack QA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063240"/>
            <a:ext cx="7680960" cy="15240"/>
          </a:xfrm>
          <a:prstGeom prst="rect">
            <a:avLst/>
          </a:prstGeom>
          <a:solidFill>
            <a:srgbClr val="D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Autor: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291840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Jaime Quiñelen Villar — QA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63931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Organización: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639312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BUPA Chile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98678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Modelo: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986784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Pirámide de Testing — Mike Cohn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33425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Versión: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334256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v1.0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68172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Fecha: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681728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Mayo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55624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BUPA Chile  ·  QA Lead: Jaime Quiñelen Villar  ·  Pirámide de Testing  · 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ESTRATEGIA DE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137"/>
                </a:solidFill>
              </a:rPr>
              <a:t>Pirámide de Testing — Modelo Cohn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5A73"/>
                </a:solidFill>
              </a:rPr>
              <a:t>Mientras más arriba: más caro, más lento y menos casos se justifican.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1" y="1325880"/>
            <a:ext cx="2294947" cy="1115568"/>
          </a:xfrm>
          <a:prstGeom prst="rect">
            <a:avLst/>
          </a:prstGeom>
          <a:solidFill>
            <a:srgbClr val="BF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56432" y="1349084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CIMA — </a:t>
            </a:r>
            <a:r>
              <a:rPr sz="1300" b="1" i="0" dirty="0" err="1">
                <a:solidFill>
                  <a:srgbClr val="FFFFFF"/>
                </a:solidFill>
              </a:rPr>
              <a:t>Criterio</a:t>
            </a:r>
            <a:r>
              <a:rPr sz="1300" b="1" i="0" dirty="0">
                <a:solidFill>
                  <a:srgbClr val="FFFFFF"/>
                </a:solidFill>
              </a:rPr>
              <a:t> Humano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4136" y="1759224"/>
            <a:ext cx="1956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</a:rPr>
              <a:t>Sin </a:t>
            </a:r>
            <a:r>
              <a:rPr sz="1200" b="0" i="0" dirty="0" err="1">
                <a:solidFill>
                  <a:srgbClr val="FFFFFF"/>
                </a:solidFill>
              </a:rPr>
              <a:t>herramienta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fija</a:t>
            </a:r>
            <a:endParaRPr sz="1200" b="0" i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10712" y="1984248"/>
            <a:ext cx="1956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AA"/>
                </a:solidFill>
              </a:rPr>
              <a:t>Manual  ·  Exploratory  ·  Usability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216712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7FFFD4"/>
                </a:solidFill>
              </a:rPr>
              <a:t>[ UAT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3394" y="2487168"/>
            <a:ext cx="3851452" cy="1234440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0554" y="2560320"/>
            <a:ext cx="35771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E2E / UI  — 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4834" y="2889504"/>
            <a:ext cx="36685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Playwright · Cypress · Appium · Selenium · BrowserStack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4834" y="3145536"/>
            <a:ext cx="3668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AA"/>
                </a:solidFill>
              </a:rPr>
              <a:t>Regression  ·  Accessibility  ·  Security</a:t>
            </a:r>
            <a:r>
              <a:rPr lang="es-CL" sz="1200" b="1" dirty="0">
                <a:solidFill>
                  <a:srgbClr val="FFFFAA"/>
                </a:solidFill>
              </a:rPr>
              <a:t> ·  Smoke</a:t>
            </a:r>
            <a:endParaRPr sz="1200" b="1" i="0" dirty="0">
              <a:solidFill>
                <a:srgbClr val="FFFFAA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4834" y="3374136"/>
            <a:ext cx="36685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FFFD4"/>
                </a:solidFill>
              </a:rPr>
              <a:t>[ UAT · PROD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3177" y="3767328"/>
            <a:ext cx="5491886" cy="1325880"/>
          </a:xfrm>
          <a:prstGeom prst="rect">
            <a:avLst/>
          </a:prstGeom>
          <a:solidFill>
            <a:srgbClr val="52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0337" y="3840480"/>
            <a:ext cx="521756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INTEGRACIÓN / SERVICE  — 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4617" y="4169664"/>
            <a:ext cx="530900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</a:rPr>
              <a:t>Postman · Newman · n8n · APIs 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4617" y="4425696"/>
            <a:ext cx="53090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AA"/>
                </a:solidFill>
              </a:rPr>
              <a:t>Integration  ·  Performance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4617" y="4745736"/>
            <a:ext cx="530900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FFFD4"/>
                </a:solidFill>
              </a:rPr>
              <a:t>[ DEV · UAT · PROD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138928"/>
            <a:ext cx="7132320" cy="14630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BASE  —  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41264"/>
            <a:ext cx="6949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FFFFFF"/>
                </a:solidFill>
              </a:rPr>
              <a:t>Go test · Jest · Karma · Azure DevOps 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97296"/>
            <a:ext cx="6949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AA"/>
                </a:solidFill>
              </a:rPr>
              <a:t>Unit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61681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7FFFD4"/>
                </a:solidFill>
              </a:rPr>
              <a:t>[ DE</a:t>
            </a:r>
            <a:r>
              <a:rPr lang="es-CL" sz="1200" b="1" i="0" dirty="0">
                <a:solidFill>
                  <a:srgbClr val="7FFFD4"/>
                </a:solidFill>
              </a:rPr>
              <a:t>V</a:t>
            </a:r>
            <a:r>
              <a:rPr sz="1200" b="1" i="0" dirty="0">
                <a:solidFill>
                  <a:srgbClr val="7FFFD4"/>
                </a:solidFill>
              </a:rPr>
              <a:t>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" y="1325880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BF2600"/>
                </a:solidFill>
              </a:rPr>
              <a:t>LENTO
CARO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" y="5320726"/>
            <a:ext cx="749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0875A"/>
                </a:solidFill>
              </a:rPr>
              <a:t>RÁPIDO
BARATO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325880"/>
            <a:ext cx="36576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1325880"/>
            <a:ext cx="54864" cy="1389888"/>
          </a:xfrm>
          <a:prstGeom prst="rect">
            <a:avLst/>
          </a:prstGeom>
          <a:solidFill>
            <a:srgbClr val="BF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94192" y="1435608"/>
            <a:ext cx="612647" cy="292608"/>
          </a:xfrm>
          <a:prstGeom prst="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94192" y="1435608"/>
            <a:ext cx="61264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2600"/>
                </a:solidFill>
              </a:rPr>
              <a:t>CIMA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1435608"/>
            <a:ext cx="258775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No automatizable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94192" y="1856232"/>
            <a:ext cx="822960" cy="292608"/>
          </a:xfrm>
          <a:prstGeom prst="rect">
            <a:avLst/>
          </a:prstGeom>
          <a:solidFill>
            <a:srgbClr val="F3F7FB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49056" y="185623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Manual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08592" y="1856232"/>
            <a:ext cx="1280160" cy="292608"/>
          </a:xfrm>
          <a:prstGeom prst="rect">
            <a:avLst/>
          </a:prstGeom>
          <a:solidFill>
            <a:srgbClr val="F3F7FB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63456" y="18562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Exploratory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80192" y="1856232"/>
            <a:ext cx="1097280" cy="292608"/>
          </a:xfrm>
          <a:prstGeom prst="rect">
            <a:avLst/>
          </a:prstGeom>
          <a:solidFill>
            <a:srgbClr val="F3F7FB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35056" y="185623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Usability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2788920"/>
            <a:ext cx="36576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0" y="2788920"/>
            <a:ext cx="54864" cy="1389888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94192" y="2898648"/>
            <a:ext cx="1092707" cy="29260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94192" y="2898648"/>
            <a:ext cx="10927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6200"/>
                </a:solidFill>
              </a:rPr>
              <a:t>E2E · 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96627" y="2898648"/>
            <a:ext cx="210769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Semi-automatizado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94192" y="3319272"/>
            <a:ext cx="1188720" cy="292608"/>
          </a:xfrm>
          <a:prstGeom prst="rect">
            <a:avLst/>
          </a:prstGeom>
          <a:solidFill>
            <a:srgbClr val="F3F7FB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49056" y="33192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Regression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74352" y="3319272"/>
            <a:ext cx="1463040" cy="292608"/>
          </a:xfrm>
          <a:prstGeom prst="rect">
            <a:avLst/>
          </a:prstGeom>
          <a:solidFill>
            <a:srgbClr val="F3F7FB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29216" y="331927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Accessibility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12657" y="3694176"/>
            <a:ext cx="1005840" cy="292608"/>
          </a:xfrm>
          <a:prstGeom prst="rect">
            <a:avLst/>
          </a:prstGeom>
          <a:solidFill>
            <a:srgbClr val="F3F7FB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97832" y="3703874"/>
            <a:ext cx="731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D5A73"/>
                </a:solidFill>
              </a:rPr>
              <a:t>Security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4251960"/>
            <a:ext cx="36576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229600" y="4251960"/>
            <a:ext cx="54864" cy="1389888"/>
          </a:xfrm>
          <a:prstGeom prst="rect">
            <a:avLst/>
          </a:prstGeom>
          <a:solidFill>
            <a:srgbClr val="52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394192" y="4361688"/>
            <a:ext cx="1476756" cy="292608"/>
          </a:xfrm>
          <a:prstGeom prst="rect">
            <a:avLst/>
          </a:prstGeom>
          <a:solidFill>
            <a:srgbClr val="EA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94192" y="4361688"/>
            <a:ext cx="14767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43AA"/>
                </a:solidFill>
              </a:rPr>
              <a:t>SERVICE · 20%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80676" y="4361688"/>
            <a:ext cx="17236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Automatizable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94192" y="4782312"/>
            <a:ext cx="1280160" cy="292608"/>
          </a:xfrm>
          <a:prstGeom prst="rect">
            <a:avLst/>
          </a:prstGeom>
          <a:solidFill>
            <a:srgbClr val="F3F7FB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449056" y="4782312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0" i="0" dirty="0">
                <a:solidFill>
                  <a:srgbClr val="3D5A73"/>
                </a:solidFill>
              </a:rPr>
              <a:t>     </a:t>
            </a:r>
            <a:r>
              <a:rPr sz="1200" b="0" i="0" dirty="0">
                <a:solidFill>
                  <a:srgbClr val="3D5A73"/>
                </a:solidFill>
              </a:rPr>
              <a:t>Integration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65792" y="4782312"/>
            <a:ext cx="1280160" cy="292608"/>
          </a:xfrm>
          <a:prstGeom prst="rect">
            <a:avLst/>
          </a:prstGeom>
          <a:solidFill>
            <a:srgbClr val="F3F7FB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20656" y="4782312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0" i="0" dirty="0">
                <a:solidFill>
                  <a:srgbClr val="3D5A73"/>
                </a:solidFill>
              </a:rPr>
              <a:t>  </a:t>
            </a:r>
            <a:r>
              <a:rPr sz="1200" b="0" i="0" dirty="0">
                <a:solidFill>
                  <a:srgbClr val="3D5A73"/>
                </a:solidFill>
              </a:rPr>
              <a:t>Performance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10978" y="3691583"/>
            <a:ext cx="731520" cy="292608"/>
          </a:xfrm>
          <a:prstGeom prst="rect">
            <a:avLst/>
          </a:prstGeom>
          <a:solidFill>
            <a:srgbClr val="F3F7FB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179888" y="3697777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D5A73"/>
                </a:solidFill>
              </a:rPr>
              <a:t>Smoke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5715000"/>
            <a:ext cx="36576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229600" y="5715000"/>
            <a:ext cx="54864" cy="1389888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394192" y="5824728"/>
            <a:ext cx="1188720" cy="292608"/>
          </a:xfrm>
          <a:prstGeom prst="rect">
            <a:avLst/>
          </a:prstGeom>
          <a:solidFill>
            <a:srgbClr val="E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94192" y="5824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75A"/>
                </a:solidFill>
              </a:rPr>
              <a:t>BASE · 70%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5824728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1" i="0" dirty="0">
                <a:solidFill>
                  <a:srgbClr val="7A98B0"/>
                </a:solidFill>
              </a:rPr>
              <a:t>UNITARIAS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94192" y="6245352"/>
            <a:ext cx="1371600" cy="292608"/>
          </a:xfrm>
          <a:prstGeom prst="rect">
            <a:avLst/>
          </a:prstGeom>
          <a:solidFill>
            <a:srgbClr val="F3F7FB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49056" y="62453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Unit Testing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5760" y="655624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BUPA Chile  ·  QA Lead: Jaime Quiñelen Villar  ·  Pirámide de Testing  ·  Mayo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MÉTRICAS POR NIVEL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137"/>
                </a:solidFill>
              </a:rPr>
              <a:t>Distribución por Nivel — Pirámide de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8346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834640" cy="54864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2618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BASE — UNITARIAS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91056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875A"/>
                </a:solidFill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Go test · Jest · Karma
Azure DevOps CI
Cobertura mín. ≥ 80%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1097280"/>
            <a:ext cx="28346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1568" y="1097280"/>
            <a:ext cx="2834640" cy="54864"/>
          </a:xfrm>
          <a:prstGeom prst="rect">
            <a:avLst/>
          </a:prstGeom>
          <a:solidFill>
            <a:srgbClr val="52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2618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INTEGRACIÓN /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591056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5243AA"/>
                </a:solidFill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Postman · Newman · n8n
APIs REST · Contratos SDD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37376" y="1097280"/>
            <a:ext cx="28346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37376" y="1097280"/>
            <a:ext cx="2834640" cy="54864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12618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E2E /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1591056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946200"/>
                </a:solidFill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Playwright · Cypress · Appium
Selenium · BrowserStack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73184" y="1097280"/>
            <a:ext cx="28346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73184" y="1097280"/>
            <a:ext cx="2834640" cy="54864"/>
          </a:xfrm>
          <a:prstGeom prst="rect">
            <a:avLst/>
          </a:prstGeom>
          <a:solidFill>
            <a:srgbClr val="BF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37776" y="12618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8B0"/>
                </a:solidFill>
              </a:rPr>
              <a:t>TIPOS DE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1591056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BF2600"/>
                </a:solidFill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7776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Tipos cubiertos
en el plan QA BUPA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46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137"/>
                </a:solidFill>
              </a:rPr>
              <a:t>Eje de la Pirámide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57600"/>
            <a:ext cx="2286000" cy="4206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73075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ATRIBUTO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657600"/>
            <a:ext cx="1737360" cy="4206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0" y="3730752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CIMA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3657600"/>
            <a:ext cx="1737360" cy="4206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3730752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E2E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657600"/>
            <a:ext cx="2011680" cy="4206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373075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657600"/>
            <a:ext cx="1737360" cy="42062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0" y="3730752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078224"/>
            <a:ext cx="22860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151376"/>
            <a:ext cx="2176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5A73"/>
                </a:solidFill>
              </a:rPr>
              <a:t>Velocidad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078224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34640" y="4151376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2600"/>
                </a:solidFill>
              </a:rPr>
              <a:t>Lento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4078224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0" y="4151376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6200"/>
                </a:solidFill>
              </a:rPr>
              <a:t>Medio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078224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60" y="4151376"/>
            <a:ext cx="1901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43AA"/>
                </a:solidFill>
              </a:rPr>
              <a:t>Medio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4078224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4151376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75A"/>
                </a:solidFill>
              </a:rPr>
              <a:t>Rápido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498848"/>
            <a:ext cx="22860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4572000"/>
            <a:ext cx="2176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5A73"/>
                </a:solidFill>
              </a:rPr>
              <a:t>Costo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498848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834640" y="4572000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2600"/>
                </a:solidFill>
              </a:rPr>
              <a:t>Alto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4498848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0" y="4572000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6200"/>
                </a:solidFill>
              </a:rPr>
              <a:t>Medio-Alto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498848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09360" y="4572000"/>
            <a:ext cx="1901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43AA"/>
                </a:solidFill>
              </a:rPr>
              <a:t>Medio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4498848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21040" y="4572000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75A"/>
                </a:solidFill>
              </a:rPr>
              <a:t>Bajo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919472"/>
            <a:ext cx="22860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8640" y="4992624"/>
            <a:ext cx="2176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5A73"/>
                </a:solidFill>
              </a:rPr>
              <a:t>Cantidad de casos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4919472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834640" y="4992624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2600"/>
                </a:solidFill>
              </a:rPr>
              <a:t>Pocos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4919472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72000" y="4992624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6200"/>
                </a:solidFill>
              </a:rPr>
              <a:t>Moderado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4919472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09360" y="4992624"/>
            <a:ext cx="1901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43AA"/>
                </a:solidFill>
              </a:rPr>
              <a:t>Moderado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4919472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21040" y="4992624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75A"/>
                </a:solidFill>
              </a:rPr>
              <a:t>Muchos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340096"/>
            <a:ext cx="22860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8640" y="5413248"/>
            <a:ext cx="2176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5A73"/>
                </a:solidFill>
              </a:rPr>
              <a:t>Automatización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5340096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34640" y="5413248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2600"/>
                </a:solidFill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80560" y="5340096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0" y="5413248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6200"/>
                </a:solidFill>
              </a:rPr>
              <a:t>Parcial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5340096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09360" y="5413248"/>
            <a:ext cx="1901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43AA"/>
                </a:solidFill>
              </a:rPr>
              <a:t>Parcial-Total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29600" y="5340096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321040" y="5413248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75A"/>
                </a:solidFill>
              </a:rPr>
              <a:t>Total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760720"/>
            <a:ext cx="22860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8640" y="5833872"/>
            <a:ext cx="21762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5A73"/>
                </a:solidFill>
              </a:rPr>
              <a:t>Feedback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0" y="5760720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834640" y="5833872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2600"/>
                </a:solidFill>
              </a:rPr>
              <a:t>Tardío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80560" y="5760720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572000" y="5833872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6200"/>
                </a:solidFill>
              </a:rPr>
              <a:t>Tardío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576072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09360" y="5833872"/>
            <a:ext cx="1901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243AA"/>
                </a:solidFill>
              </a:rPr>
              <a:t>Rápido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0" y="5760720"/>
            <a:ext cx="1737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321040" y="5833872"/>
            <a:ext cx="16276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75A"/>
                </a:solidFill>
              </a:rPr>
              <a:t>Inmediato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65760" y="655624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BUPA Chile  ·  QA Lead: Jaime Quiñelen Villar  ·  Pirámide de Testing  ·  Mayo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DETALLE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F2137"/>
                </a:solidFill>
              </a:rPr>
              <a:t>Mapa </a:t>
            </a:r>
            <a:r>
              <a:rPr sz="2400" b="1" i="0" dirty="0" err="1">
                <a:solidFill>
                  <a:srgbClr val="0F2137"/>
                </a:solidFill>
              </a:rPr>
              <a:t>Completo</a:t>
            </a:r>
            <a:r>
              <a:rPr sz="2400" b="1" i="0" dirty="0">
                <a:solidFill>
                  <a:srgbClr val="0F2137"/>
                </a:solidFill>
              </a:rPr>
              <a:t> — 11 </a:t>
            </a:r>
            <a:r>
              <a:rPr sz="2400" b="1" i="0" dirty="0" err="1">
                <a:solidFill>
                  <a:srgbClr val="0F2137"/>
                </a:solidFill>
              </a:rPr>
              <a:t>Tipos</a:t>
            </a:r>
            <a:r>
              <a:rPr lang="es-CL" sz="2400" b="1" i="0" dirty="0">
                <a:solidFill>
                  <a:srgbClr val="0F2137"/>
                </a:solidFill>
              </a:rPr>
              <a:t> de Planes</a:t>
            </a:r>
            <a:r>
              <a:rPr sz="2400" b="1" i="0" dirty="0">
                <a:solidFill>
                  <a:srgbClr val="0F2137"/>
                </a:solidFill>
              </a:rPr>
              <a:t> </a:t>
            </a:r>
            <a:r>
              <a:rPr sz="2400" b="1" i="0" dirty="0" err="1">
                <a:solidFill>
                  <a:srgbClr val="0F2137"/>
                </a:solidFill>
              </a:rPr>
              <a:t>en</a:t>
            </a:r>
            <a:r>
              <a:rPr sz="2400" b="1" i="0" dirty="0">
                <a:solidFill>
                  <a:srgbClr val="0F2137"/>
                </a:solidFill>
              </a:rPr>
              <a:t> la </a:t>
            </a:r>
            <a:r>
              <a:rPr sz="2400" b="1" i="0" dirty="0" err="1">
                <a:solidFill>
                  <a:srgbClr val="0F2137"/>
                </a:solidFill>
              </a:rPr>
              <a:t>Pirámide</a:t>
            </a:r>
            <a:endParaRPr sz="2400" b="1" i="0" dirty="0">
              <a:solidFill>
                <a:srgbClr val="0F213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2011680" cy="43891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19385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TIPO DE 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267712" y="1005840"/>
            <a:ext cx="868680" cy="43891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097280"/>
            <a:ext cx="7955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NIVEL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2" y="1005840"/>
            <a:ext cx="2286000" cy="43891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097280"/>
            <a:ext cx="22128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HERRAMIENTA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22392" y="1005840"/>
            <a:ext cx="1051560" cy="43891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72620" y="1024128"/>
            <a:ext cx="978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</a:rPr>
              <a:t>AUTOMATIZACIÓN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3952" y="1005840"/>
            <a:ext cx="1188720" cy="43891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1097280"/>
            <a:ext cx="1115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AMBIENTE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2672" y="1005840"/>
            <a:ext cx="1417320" cy="43891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80" y="1097280"/>
            <a:ext cx="1344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RESPONSABLE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1444752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" y="1618488"/>
            <a:ext cx="91440" cy="914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1527048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137"/>
                </a:solidFill>
              </a:rPr>
              <a:t>Unit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7712" y="1444752"/>
            <a:ext cx="868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40864" y="1527048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75A"/>
                </a:solidFill>
              </a:rPr>
              <a:t>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6392" y="1444752"/>
            <a:ext cx="22860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9544" y="152704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Go test · Jest · Karma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22392" y="1444752"/>
            <a:ext cx="10515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77256" y="1536192"/>
            <a:ext cx="896112" cy="256032"/>
          </a:xfrm>
          <a:prstGeom prst="rect">
            <a:avLst/>
          </a:prstGeom>
          <a:solidFill>
            <a:srgbClr val="E6F5E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77256" y="1536192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75A"/>
                </a:solidFill>
              </a:rPr>
              <a:t>100% Auto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3952" y="1444752"/>
            <a:ext cx="1188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47104" y="152704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DEV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62672" y="1444752"/>
            <a:ext cx="1417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35824" y="1527048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Dev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1883664"/>
            <a:ext cx="20116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9184" y="2057400"/>
            <a:ext cx="91440" cy="914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1965960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2137"/>
                </a:solidFill>
              </a:rPr>
              <a:t>Automated Testing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67712" y="1883664"/>
            <a:ext cx="8686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40864" y="1965960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875A"/>
                </a:solidFill>
              </a:rPr>
              <a:t>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36392" y="1883664"/>
            <a:ext cx="228600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9544" y="196596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Cypress · Playwright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22392" y="1883664"/>
            <a:ext cx="10515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77256" y="1975104"/>
            <a:ext cx="896112" cy="256032"/>
          </a:xfrm>
          <a:prstGeom prst="rect">
            <a:avLst/>
          </a:prstGeom>
          <a:solidFill>
            <a:srgbClr val="E6F5E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77256" y="1975104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75A"/>
                </a:solidFill>
              </a:rPr>
              <a:t>100% Auto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73952" y="1883664"/>
            <a:ext cx="118872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47104" y="196596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UAT · PROD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62672" y="1883664"/>
            <a:ext cx="141732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35824" y="1965960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QA Lead + Dev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" y="2322576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9184" y="2496312"/>
            <a:ext cx="91440" cy="91440"/>
          </a:xfrm>
          <a:prstGeom prst="rect">
            <a:avLst/>
          </a:prstGeom>
          <a:solidFill>
            <a:srgbClr val="52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2404872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137"/>
                </a:solidFill>
              </a:rPr>
              <a:t>Smoke Testing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67712" y="2322576"/>
            <a:ext cx="868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340864" y="2404872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43AA"/>
                </a:solidFill>
              </a:rPr>
              <a:t>Service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36392" y="2322576"/>
            <a:ext cx="22860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209544" y="240487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Cypress (subset crítico)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22392" y="2322576"/>
            <a:ext cx="10515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77256" y="2414016"/>
            <a:ext cx="896112" cy="256032"/>
          </a:xfrm>
          <a:prstGeom prst="rect">
            <a:avLst/>
          </a:prstGeom>
          <a:solidFill>
            <a:srgbClr val="E6F5E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77256" y="2414016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75A"/>
                </a:solidFill>
              </a:rPr>
              <a:t>100% Auto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73952" y="2322576"/>
            <a:ext cx="1188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47104" y="240487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UAT · PROD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62672" y="2322576"/>
            <a:ext cx="1417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35824" y="2404872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QA Lead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" y="2761488"/>
            <a:ext cx="20116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9184" y="2935224"/>
            <a:ext cx="91440" cy="91440"/>
          </a:xfrm>
          <a:prstGeom prst="rect">
            <a:avLst/>
          </a:prstGeom>
          <a:solidFill>
            <a:srgbClr val="52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5488" y="2843784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137"/>
                </a:solidFill>
              </a:rPr>
              <a:t>Integration Testing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67712" y="2761488"/>
            <a:ext cx="8686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340864" y="2843784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43AA"/>
                </a:solidFill>
              </a:rPr>
              <a:t>Service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36392" y="2761488"/>
            <a:ext cx="228600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209544" y="284378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Postman · Newman · n8n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22392" y="2761488"/>
            <a:ext cx="10515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477256" y="2852928"/>
            <a:ext cx="896112" cy="256032"/>
          </a:xfrm>
          <a:prstGeom prst="rect">
            <a:avLst/>
          </a:prstGeom>
          <a:solidFill>
            <a:srgbClr val="EBF4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77256" y="2852928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CC"/>
                </a:solidFill>
              </a:rPr>
              <a:t>Parcial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73952" y="2761488"/>
            <a:ext cx="118872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47104" y="2843784"/>
            <a:ext cx="1170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D5A73"/>
                </a:solidFill>
              </a:rPr>
              <a:t>DEV·UAT·PROD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62672" y="2761488"/>
            <a:ext cx="141732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735824" y="2843784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D5A73"/>
                </a:solidFill>
              </a:rPr>
              <a:t>QA Lead +DevOps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56032" y="3200400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29184" y="3374136"/>
            <a:ext cx="91440" cy="91440"/>
          </a:xfrm>
          <a:prstGeom prst="rect">
            <a:avLst/>
          </a:prstGeom>
          <a:solidFill>
            <a:srgbClr val="524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75488" y="3282696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137"/>
                </a:solidFill>
              </a:rPr>
              <a:t>Performance Testing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67712" y="3200400"/>
            <a:ext cx="868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340864" y="3282696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43AA"/>
                </a:solidFill>
              </a:rPr>
              <a:t>Service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36392" y="3200400"/>
            <a:ext cx="22860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209544" y="3282696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Lighthouse · k6 · Artillery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22392" y="3200400"/>
            <a:ext cx="10515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477256" y="3291840"/>
            <a:ext cx="896112" cy="256032"/>
          </a:xfrm>
          <a:prstGeom prst="rect">
            <a:avLst/>
          </a:prstGeom>
          <a:solidFill>
            <a:srgbClr val="EBF4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77256" y="329184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CC"/>
                </a:solidFill>
              </a:rPr>
              <a:t>Parcial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73952" y="3200400"/>
            <a:ext cx="1188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547104" y="328269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90104" y="3209544"/>
            <a:ext cx="136233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735824" y="328269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D5A73"/>
                </a:solidFill>
              </a:rPr>
              <a:t>QA Lead +DevOps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032" y="3639312"/>
            <a:ext cx="20116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329184" y="3813048"/>
            <a:ext cx="91440" cy="91440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75488" y="3721608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137"/>
                </a:solidFill>
              </a:rPr>
              <a:t>Regression Testing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67712" y="3639312"/>
            <a:ext cx="8686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340864" y="3721608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946200"/>
                </a:solidFill>
              </a:rPr>
              <a:t>E2E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136392" y="3639312"/>
            <a:ext cx="228600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209544" y="372160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Cypress · TestRail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22392" y="3639312"/>
            <a:ext cx="10515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5477256" y="3730752"/>
            <a:ext cx="896112" cy="256032"/>
          </a:xfrm>
          <a:prstGeom prst="rect">
            <a:avLst/>
          </a:prstGeom>
          <a:solidFill>
            <a:srgbClr val="EBF4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477256" y="3730752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CC"/>
                </a:solidFill>
              </a:rPr>
              <a:t>Parcial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73952" y="3639312"/>
            <a:ext cx="118872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547104" y="372160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UAT · PROD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62672" y="3639312"/>
            <a:ext cx="141732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735824" y="3721608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QA Lead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6032" y="4078224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29184" y="4251960"/>
            <a:ext cx="91440" cy="91440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75488" y="4160520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137"/>
                </a:solidFill>
              </a:rPr>
              <a:t>Accessibility Testing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67712" y="4078224"/>
            <a:ext cx="868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340864" y="4160520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6200"/>
                </a:solidFill>
              </a:rPr>
              <a:t>E2E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136392" y="4078224"/>
            <a:ext cx="22860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209544" y="416052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cypress-axe · NVDA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22392" y="4078224"/>
            <a:ext cx="10515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5477256" y="4169664"/>
            <a:ext cx="896112" cy="256032"/>
          </a:xfrm>
          <a:prstGeom prst="rect">
            <a:avLst/>
          </a:prstGeom>
          <a:solidFill>
            <a:srgbClr val="EBF4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477256" y="4169664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CC"/>
                </a:solidFill>
              </a:rPr>
              <a:t>Parcial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473952" y="4078224"/>
            <a:ext cx="1188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547104" y="416052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UAT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662672" y="4078224"/>
            <a:ext cx="1417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735824" y="4160520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QA Lead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56032" y="4517136"/>
            <a:ext cx="20116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29184" y="4690872"/>
            <a:ext cx="91440" cy="91440"/>
          </a:xfrm>
          <a:prstGeom prst="rect">
            <a:avLst/>
          </a:prstGeom>
          <a:solidFill>
            <a:srgbClr val="94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75488" y="4599432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F2137"/>
                </a:solidFill>
              </a:rPr>
              <a:t>Security Testing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67712" y="4517136"/>
            <a:ext cx="8686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340864" y="4599432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6200"/>
                </a:solidFill>
              </a:rPr>
              <a:t>E2E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136392" y="4517136"/>
            <a:ext cx="228600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209544" y="459943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curl · openssl · OWASP ZAP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422392" y="4517136"/>
            <a:ext cx="10515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5477256" y="4608576"/>
            <a:ext cx="896112" cy="256032"/>
          </a:xfrm>
          <a:prstGeom prst="rect">
            <a:avLst/>
          </a:prstGeom>
          <a:solidFill>
            <a:srgbClr val="EBF4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477256" y="4608576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66CC"/>
                </a:solidFill>
              </a:rPr>
              <a:t>Parcial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73952" y="4517136"/>
            <a:ext cx="118872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547104" y="459943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UAT · PROD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662672" y="4517136"/>
            <a:ext cx="141732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7735824" y="4599432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QA Lead + Dev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56032" y="4956048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329184" y="5129784"/>
            <a:ext cx="91440" cy="91440"/>
          </a:xfrm>
          <a:prstGeom prst="rect">
            <a:avLst/>
          </a:prstGeom>
          <a:solidFill>
            <a:srgbClr val="BF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475488" y="5038344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137"/>
                </a:solidFill>
              </a:rPr>
              <a:t>Manual Testing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267712" y="4956048"/>
            <a:ext cx="868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340864" y="5038344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2600"/>
                </a:solidFill>
              </a:rPr>
              <a:t>Cima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136392" y="4956048"/>
            <a:ext cx="22860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209544" y="503834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Navegador · DevTools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422392" y="4956048"/>
            <a:ext cx="10515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5477256" y="5047488"/>
            <a:ext cx="896112" cy="256032"/>
          </a:xfrm>
          <a:prstGeom prst="rect">
            <a:avLst/>
          </a:prstGeom>
          <a:solidFill>
            <a:srgbClr val="FFF3CD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477256" y="5047488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6200"/>
                </a:solidFill>
              </a:rPr>
              <a:t>Manual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73952" y="4956048"/>
            <a:ext cx="1188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547104" y="5038344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UAT · PROD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2672" y="4956048"/>
            <a:ext cx="1417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735824" y="503834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QA Lead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56032" y="5394960"/>
            <a:ext cx="20116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329184" y="5568696"/>
            <a:ext cx="91440" cy="91440"/>
          </a:xfrm>
          <a:prstGeom prst="rect">
            <a:avLst/>
          </a:prstGeom>
          <a:solidFill>
            <a:srgbClr val="BF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75488" y="5477256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137"/>
                </a:solidFill>
              </a:rPr>
              <a:t>Exploratory Testing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267712" y="5394960"/>
            <a:ext cx="86868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2340864" y="5477256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2600"/>
                </a:solidFill>
              </a:rPr>
              <a:t>Cima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136392" y="5394960"/>
            <a:ext cx="228600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209544" y="5477256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Charter de exploración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422392" y="5394960"/>
            <a:ext cx="105156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5477256" y="5486400"/>
            <a:ext cx="896112" cy="256032"/>
          </a:xfrm>
          <a:prstGeom prst="rect">
            <a:avLst/>
          </a:prstGeom>
          <a:solidFill>
            <a:srgbClr val="FFF3CD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5477256" y="548640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6200"/>
                </a:solidFill>
              </a:rPr>
              <a:t>Manual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473952" y="5394960"/>
            <a:ext cx="118872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547104" y="547725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UAT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662672" y="5394960"/>
            <a:ext cx="1417320" cy="438912"/>
          </a:xfrm>
          <a:prstGeom prst="rect">
            <a:avLst/>
          </a:prstGeom>
          <a:solidFill>
            <a:srgbClr val="F8FAFC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7735824" y="5477256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QA Lead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56032" y="5833872"/>
            <a:ext cx="2011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329184" y="6007608"/>
            <a:ext cx="91440" cy="91440"/>
          </a:xfrm>
          <a:prstGeom prst="rect">
            <a:avLst/>
          </a:prstGeom>
          <a:solidFill>
            <a:srgbClr val="BF2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475488" y="5916168"/>
            <a:ext cx="17556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137"/>
                </a:solidFill>
              </a:rPr>
              <a:t>Usability Testing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267712" y="5833872"/>
            <a:ext cx="8686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340864" y="5916168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F2600"/>
                </a:solidFill>
              </a:rPr>
              <a:t>Cima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136392" y="5833872"/>
            <a:ext cx="22860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3209544" y="591616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Usuarios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422392" y="5833872"/>
            <a:ext cx="10515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5477256" y="5925312"/>
            <a:ext cx="896112" cy="256032"/>
          </a:xfrm>
          <a:prstGeom prst="rect">
            <a:avLst/>
          </a:prstGeom>
          <a:solidFill>
            <a:srgbClr val="FFF3CD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5477256" y="5925312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6200"/>
                </a:solidFill>
              </a:rPr>
              <a:t>Manual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473952" y="5833872"/>
            <a:ext cx="11887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547104" y="591616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UAT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662672" y="5833872"/>
            <a:ext cx="1417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7735824" y="5916168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5A73"/>
                </a:solidFill>
              </a:rPr>
              <a:t>QA Lead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0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365760" y="655624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BUPA Chile  ·  QA Lead: Jaime Quiñelen Villar  ·  Pirámide de Testing  · 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532</Words>
  <Application>Microsoft Office PowerPoint</Application>
  <PresentationFormat>Personalizado</PresentationFormat>
  <Paragraphs>174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Quiñelen</cp:lastModifiedBy>
  <cp:revision>8</cp:revision>
  <dcterms:created xsi:type="dcterms:W3CDTF">2013-01-27T09:14:16Z</dcterms:created>
  <dcterms:modified xsi:type="dcterms:W3CDTF">2026-05-24T02:10:27Z</dcterms:modified>
  <cp:category/>
</cp:coreProperties>
</file>