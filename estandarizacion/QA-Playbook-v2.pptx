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4EA3">
              <a:alpha val="30000"/>
            </a:srgbClr>
          </a:solidFill>
          <a:ln w="12700">
            <a:solidFill>
              <a:srgbClr val="004E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066CC">
              <a:alpha val="20000"/>
            </a:srgbClr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"/>
            <a:ext cx="1280160" cy="502920"/>
          </a:xfrm>
          <a:prstGeom prst="rect">
            <a:avLst>
              <a:gd name="adj" fmla="val 14545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669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Playbook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4A9E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11480" y="2880360"/>
            <a:ext cx="3200400" cy="0"/>
          </a:xfrm>
          <a:prstGeom prst="line">
            <a:avLst/>
          </a:prstGeom>
          <a:noFill/>
          <a:ln w="25400">
            <a:solidFill>
              <a:srgbClr val="4A9E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trabajo QA · Metodología SDD · Pipeline CI/CD · Automatización n8n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Jaime Quinelen Villar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840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 ·  Portal Pacientes  ·  Mayo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4297680"/>
            <a:ext cx="1261872" cy="274320"/>
          </a:xfrm>
          <a:prstGeom prst="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30682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01368" y="4297680"/>
            <a:ext cx="1261872" cy="274320"/>
          </a:xfrm>
          <a:prstGeom prst="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01368" y="430682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91256" y="4297680"/>
            <a:ext cx="1261872" cy="274320"/>
          </a:xfrm>
          <a:prstGeom prst="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1256" y="430682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81144" y="4297680"/>
            <a:ext cx="1261872" cy="274320"/>
          </a:xfrm>
          <a:prstGeom prst="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1144" y="430682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71032" y="4297680"/>
            <a:ext cx="1261872" cy="274320"/>
          </a:xfrm>
          <a:prstGeom prst="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71032" y="430682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Xray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60920" y="4297680"/>
            <a:ext cx="1261872" cy="274320"/>
          </a:xfrm>
          <a:prstGeom prst="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430682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del Playbook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D8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QA Playbook v2 · Mayo 2026 · QA Lead: Jaime Quinelen Villar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051560"/>
            <a:ext cx="54864" cy="6217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43000"/>
            <a:ext cx="438912" cy="438912"/>
          </a:xfrm>
          <a:prstGeom prst="rect">
            <a:avLst>
              <a:gd name="adj" fmla="val 1250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6128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1155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QA — 7 Fases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3624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desde requerimiento hasta cierre con métricas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801368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1801368"/>
            <a:ext cx="54864" cy="621792"/>
          </a:xfrm>
          <a:prstGeom prst="rect">
            <a:avLst/>
          </a:prstGeom>
          <a:solidFill>
            <a:srgbClr val="5243AA"/>
          </a:solidFill>
          <a:ln w="12700">
            <a:solidFill>
              <a:srgbClr val="5243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92808"/>
            <a:ext cx="438912" cy="438912"/>
          </a:xfrm>
          <a:prstGeom prst="rect">
            <a:avLst>
              <a:gd name="adj" fmla="val 12500"/>
            </a:avLst>
          </a:prstGeom>
          <a:solidFill>
            <a:srgbClr val="5243AA"/>
          </a:solidFill>
          <a:ln w="12700">
            <a:solidFill>
              <a:srgbClr val="5243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91109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1865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Gerenciales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11226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indicadores clave con targets y fórmulas de medición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551176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551176"/>
            <a:ext cx="54864" cy="621792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642616"/>
            <a:ext cx="438912" cy="438912"/>
          </a:xfrm>
          <a:prstGeom prst="rect">
            <a:avLst>
              <a:gd name="adj" fmla="val 12500"/>
            </a:avLst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6090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2615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 Herramientas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28620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· n8n · GitHub Actions · Jira · Xray · cypress-axe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300984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300984"/>
            <a:ext cx="54864" cy="621792"/>
          </a:xfrm>
          <a:prstGeom prst="rect">
            <a:avLst/>
          </a:prstGeom>
          <a:solidFill>
            <a:srgbClr val="946200"/>
          </a:solidFill>
          <a:ln w="12700">
            <a:solidFill>
              <a:srgbClr val="9462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392424"/>
            <a:ext cx="438912" cy="438912"/>
          </a:xfrm>
          <a:prstGeom prst="rect">
            <a:avLst>
              <a:gd name="adj" fmla="val 12500"/>
            </a:avLst>
          </a:prstGeom>
          <a:solidFill>
            <a:srgbClr val="946200"/>
          </a:solidFill>
          <a:ln w="12700">
            <a:solidFill>
              <a:srgbClr val="946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41071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33649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de Automatización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3611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workflows n8n que operan en paralelo al proceso QA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050792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4050792"/>
            <a:ext cx="54864" cy="621792"/>
          </a:xfrm>
          <a:prstGeom prst="rect">
            <a:avLst/>
          </a:prstGeom>
          <a:solidFill>
            <a:srgbClr val="BF2600"/>
          </a:solidFill>
          <a:ln w="12700">
            <a:solidFill>
              <a:srgbClr val="BF26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142232"/>
            <a:ext cx="438912" cy="438912"/>
          </a:xfrm>
          <a:prstGeom prst="rect">
            <a:avLst>
              <a:gd name="adj" fmla="val 12500"/>
            </a:avLst>
          </a:prstGeom>
          <a:solidFill>
            <a:srgbClr val="BF2600"/>
          </a:solidFill>
          <a:ln w="12700">
            <a:solidFill>
              <a:srgbClr val="BF26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16052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1560" y="4114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— Go / No-Go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51560" y="4361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release, Definition of Done y SLA por severidad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QA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Fases del Proceso de Calidad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D8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QA Playbook v2 · Mayo 2026 · QA Lead: Jaime Quinelen Villar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116128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1161288" cy="54864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" y="1216152"/>
            <a:ext cx="457200" cy="457200"/>
          </a:xfrm>
          <a:prstGeom prst="rect">
            <a:avLst>
              <a:gd name="adj" fmla="val 1600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" y="12344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" y="180136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" y="23500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SDD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90472" y="2880360"/>
            <a:ext cx="54864" cy="0"/>
          </a:xfrm>
          <a:prstGeom prst="line">
            <a:avLst/>
          </a:prstGeom>
          <a:noFill/>
          <a:ln w="19050">
            <a:solidFill>
              <a:srgbClr val="B8D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17904" y="1051560"/>
            <a:ext cx="116128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517904" y="1051560"/>
            <a:ext cx="1161288" cy="54864"/>
          </a:xfrm>
          <a:prstGeom prst="rect">
            <a:avLst/>
          </a:prstGeom>
          <a:solidFill>
            <a:srgbClr val="0080CC"/>
          </a:solidFill>
          <a:ln w="12700">
            <a:solidFill>
              <a:srgbClr val="0080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9948" y="1216152"/>
            <a:ext cx="457200" cy="457200"/>
          </a:xfrm>
          <a:prstGeom prst="rect">
            <a:avLst>
              <a:gd name="adj" fmla="val 16000"/>
            </a:avLst>
          </a:prstGeom>
          <a:solidFill>
            <a:srgbClr val="0080CC"/>
          </a:solidFill>
          <a:ln w="12700">
            <a:solidFill>
              <a:srgbClr val="0080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9948" y="12344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72768" y="180136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Pruebas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72768" y="23500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Plans + Xray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88336" y="2880360"/>
            <a:ext cx="54864" cy="0"/>
          </a:xfrm>
          <a:prstGeom prst="line">
            <a:avLst/>
          </a:prstGeom>
          <a:noFill/>
          <a:ln w="19050">
            <a:solidFill>
              <a:srgbClr val="B8D0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15768" y="1051560"/>
            <a:ext cx="116128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15768" y="1051560"/>
            <a:ext cx="1161288" cy="54864"/>
          </a:xfrm>
          <a:prstGeom prst="rect">
            <a:avLst/>
          </a:prstGeom>
          <a:solidFill>
            <a:srgbClr val="007AB8"/>
          </a:solidFill>
          <a:ln w="12700">
            <a:solidFill>
              <a:srgbClr val="007A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67812" y="1216152"/>
            <a:ext cx="457200" cy="457200"/>
          </a:xfrm>
          <a:prstGeom prst="rect">
            <a:avLst>
              <a:gd name="adj" fmla="val 16000"/>
            </a:avLst>
          </a:prstGeom>
          <a:solidFill>
            <a:srgbClr val="007AB8"/>
          </a:solidFill>
          <a:ln w="12700">
            <a:solidFill>
              <a:srgbClr val="007A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7812" y="12344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70632" y="180136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+ Shift-Left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70632" y="23500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Categorías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86200" y="2880360"/>
            <a:ext cx="54864" cy="0"/>
          </a:xfrm>
          <a:prstGeom prst="line">
            <a:avLst/>
          </a:prstGeom>
          <a:noFill/>
          <a:ln w="19050">
            <a:solidFill>
              <a:srgbClr val="B8D0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13632" y="1051560"/>
            <a:ext cx="116128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913632" y="1051560"/>
            <a:ext cx="1161288" cy="54864"/>
          </a:xfrm>
          <a:prstGeom prst="rect">
            <a:avLst/>
          </a:prstGeom>
          <a:solidFill>
            <a:srgbClr val="5243AA"/>
          </a:solidFill>
          <a:ln w="12700">
            <a:solidFill>
              <a:srgbClr val="5243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65676" y="1216152"/>
            <a:ext cx="457200" cy="457200"/>
          </a:xfrm>
          <a:prstGeom prst="rect">
            <a:avLst>
              <a:gd name="adj" fmla="val 16000"/>
            </a:avLst>
          </a:prstGeom>
          <a:solidFill>
            <a:srgbClr val="5243AA"/>
          </a:solidFill>
          <a:ln w="12700">
            <a:solidFill>
              <a:srgbClr val="5243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65676" y="12344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68496" y="180136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68496" y="23500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84064" y="2880360"/>
            <a:ext cx="54864" cy="0"/>
          </a:xfrm>
          <a:prstGeom prst="line">
            <a:avLst/>
          </a:prstGeom>
          <a:noFill/>
          <a:ln w="19050">
            <a:solidFill>
              <a:srgbClr val="B8D0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11496" y="1051560"/>
            <a:ext cx="116128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111496" y="1051560"/>
            <a:ext cx="1161288" cy="54864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63540" y="1216152"/>
            <a:ext cx="457200" cy="457200"/>
          </a:xfrm>
          <a:prstGeom prst="rect">
            <a:avLst>
              <a:gd name="adj" fmla="val 16000"/>
            </a:avLst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3540" y="12344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66360" y="180136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UAT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66360" y="23500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81928" y="2880360"/>
            <a:ext cx="54864" cy="0"/>
          </a:xfrm>
          <a:prstGeom prst="line">
            <a:avLst/>
          </a:prstGeom>
          <a:noFill/>
          <a:ln w="19050">
            <a:solidFill>
              <a:srgbClr val="B8D0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1051560"/>
            <a:ext cx="116128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09360" y="1051560"/>
            <a:ext cx="1161288" cy="54864"/>
          </a:xfrm>
          <a:prstGeom prst="rect">
            <a:avLst/>
          </a:prstGeom>
          <a:solidFill>
            <a:srgbClr val="BF2600"/>
          </a:solidFill>
          <a:ln w="12700">
            <a:solidFill>
              <a:srgbClr val="BF26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61404" y="1216152"/>
            <a:ext cx="457200" cy="457200"/>
          </a:xfrm>
          <a:prstGeom prst="rect">
            <a:avLst>
              <a:gd name="adj" fmla="val 16000"/>
            </a:avLst>
          </a:prstGeom>
          <a:solidFill>
            <a:srgbClr val="BF2600"/>
          </a:solidFill>
          <a:ln w="12700">
            <a:solidFill>
              <a:srgbClr val="BF26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61404" y="12344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F6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364224" y="180136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Producción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64224" y="23500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PROD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479792" y="2880360"/>
            <a:ext cx="54864" cy="0"/>
          </a:xfrm>
          <a:prstGeom prst="line">
            <a:avLst/>
          </a:prstGeom>
          <a:noFill/>
          <a:ln w="19050">
            <a:solidFill>
              <a:srgbClr val="B8D0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07224" y="1051560"/>
            <a:ext cx="116128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07224" y="1051560"/>
            <a:ext cx="1161288" cy="54864"/>
          </a:xfrm>
          <a:prstGeom prst="rect">
            <a:avLst/>
          </a:prstGeom>
          <a:solidFill>
            <a:srgbClr val="946200"/>
          </a:solidFill>
          <a:ln w="12700">
            <a:solidFill>
              <a:srgbClr val="9462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59268" y="1216152"/>
            <a:ext cx="457200" cy="457200"/>
          </a:xfrm>
          <a:prstGeom prst="rect">
            <a:avLst>
              <a:gd name="adj" fmla="val 16000"/>
            </a:avLst>
          </a:prstGeom>
          <a:solidFill>
            <a:srgbClr val="946200"/>
          </a:solidFill>
          <a:ln w="12700">
            <a:solidFill>
              <a:srgbClr val="9462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59268" y="12344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F7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562088" y="180136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Métricas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562088" y="23500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KPIs gerenciales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01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46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5303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 · Jira + Metodología SDD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QA Playbook v2 · Mayo 2026 · QA Lead: Jaime Quinelen Villar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078992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078992"/>
            <a:ext cx="4160520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188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DEL QA LEAD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requerimiento de stakeholders o PM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Epic y Story en Jira con descripción funcional completa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359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el SDD completo (9 secciones): objetivo, alcance, actores, flujos, criterios de aceptación, riesgos, datos de prueba, entornos y restricciones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8163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el workflow de generación automática del PDF del SDD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2735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 el ticket: BACKLOG → SDD EN PROCESO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78992"/>
            <a:ext cx="4160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78992"/>
            <a:ext cx="4160520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188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 PRODUCIDOS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SDD.md (9 secciones)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Epic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359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8163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del SDD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2735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al equipo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520440"/>
            <a:ext cx="416052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520440"/>
            <a:ext cx="4160520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6118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384048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20840" y="384048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(WF generación SDD)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0600" y="411480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80CC"/>
          </a:solidFill>
          <a:ln w="12700">
            <a:solidFill>
              <a:srgbClr val="0080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01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46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Pruebas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5303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 · Test Plans + Xray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QA Playbook v2 · Mayo 2026 · QA Lead: Jaime Quinelen Villar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078992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078992"/>
            <a:ext cx="4160520" cy="45720"/>
          </a:xfrm>
          <a:prstGeom prst="rect">
            <a:avLst/>
          </a:prstGeom>
          <a:solidFill>
            <a:srgbClr val="0080CC"/>
          </a:solidFill>
          <a:ln w="12700">
            <a:solidFill>
              <a:srgbClr val="0080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188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CASOS DE PRUEBA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TC-XXX-FP (Happy Path): flujo principal exitoso del requerimiento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TC-XXX-EC (Edge Case): casos límite, errores y comportamientos alternativos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359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principales que requieren verificación humana (visual, UX)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8163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que requieren configuración especial de ambiente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78992"/>
            <a:ext cx="4160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78992"/>
            <a:ext cx="4160520" cy="45720"/>
          </a:xfrm>
          <a:prstGeom prst="rect">
            <a:avLst/>
          </a:prstGeom>
          <a:solidFill>
            <a:srgbClr val="0080CC"/>
          </a:solidFill>
          <a:ln w="12700">
            <a:solidFill>
              <a:srgbClr val="0080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188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CON CYPRESS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TCs automatizables (flujos deterministas y repetibles)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criterios PASS/FAIL explícitos por TC antes de escribir el spec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359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TCs en Xray: TestPlan + TestExecution por requerimiento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8163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SDD EN PROCESO → READY TO DEV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520440"/>
            <a:ext cx="416052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520440"/>
            <a:ext cx="4160520" cy="45720"/>
          </a:xfrm>
          <a:prstGeom prst="rect">
            <a:avLst/>
          </a:prstGeom>
          <a:solidFill>
            <a:srgbClr val="0080CC"/>
          </a:solidFill>
          <a:ln w="12700">
            <a:solidFill>
              <a:srgbClr val="0080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6118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384048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Test-Plan.md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20840" y="384048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en Xray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411480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PASS/FAIL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20840" y="411480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REQ vs TC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7AB8"/>
          </a:solidFill>
          <a:ln w="12700">
            <a:solidFill>
              <a:srgbClr val="007A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01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46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+ Shift-Left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5303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 implementa · QA Lead revisa cobertura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QA Playbook v2 · Mayo 2026 · QA Lead: Jaime Quinelen Villar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078992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078992"/>
            <a:ext cx="4160520" cy="45720"/>
          </a:xfrm>
          <a:prstGeom prst="rect">
            <a:avLst/>
          </a:prstGeom>
          <a:solidFill>
            <a:srgbClr val="007AB8"/>
          </a:solidFill>
          <a:ln w="12700">
            <a:solidFill>
              <a:srgbClr val="007A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188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DEL QA LEAD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 desarrollo implementa y escribe pruebas unitarias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 revisa la cobertura de unit tests por categoría antes del Code Review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359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cobertura es insuficiente, solicita más tests antes de avanzar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8163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aprueba → Code Review → PR abierto → pipeline se activa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78992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78992"/>
            <a:ext cx="4160520" cy="45720"/>
          </a:xfrm>
          <a:prstGeom prst="rect">
            <a:avLst/>
          </a:prstGeom>
          <a:solidFill>
            <a:srgbClr val="007AB8"/>
          </a:solidFill>
          <a:ln w="12700">
            <a:solidFill>
              <a:srgbClr val="007A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188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POR CATEGORÍA (SHIFT-LEFT)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¿Tests cubren flujos de navegación y secuencias de interacción?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¿Tests de render de componentes, atributos ARIA y contraste?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359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¿Tests del bootstrap Angular, lógica de componentes?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8163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¿Tests de respuesta API, contratos, SSL y HTTPS?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243AA"/>
          </a:solidFill>
          <a:ln w="12700">
            <a:solidFill>
              <a:srgbClr val="5243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01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46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CI/CD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5303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Cypress · 7 Stages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QA Playbook v2 · Mayo 2026 · QA Lead: Jaime Quinelen Villar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078992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078992"/>
            <a:ext cx="4160520" cy="45720"/>
          </a:xfrm>
          <a:prstGeom prst="rect">
            <a:avLst/>
          </a:prstGeom>
          <a:solidFill>
            <a:srgbClr val="5243AA"/>
          </a:solidFill>
          <a:ln w="12700">
            <a:solidFill>
              <a:srgbClr val="5243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188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DEL PIPELINE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npm ci — Instalación de dependencias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ESLint — Análisis estático de código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359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Cypress — E2E Smoke Tests (flujo principal)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8163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Cypress — E2E Flujos Críticos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2735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Cypress — E2E Mobile viewport (solo develop)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730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6: n8n webhook — Notificación de resultado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187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7: GitHub Actions — Step Summary con resultados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078992"/>
            <a:ext cx="4160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78992"/>
            <a:ext cx="4160520" cy="45720"/>
          </a:xfrm>
          <a:prstGeom prst="rect">
            <a:avLst/>
          </a:prstGeom>
          <a:solidFill>
            <a:srgbClr val="5243AA"/>
          </a:solidFill>
          <a:ln w="12700">
            <a:solidFill>
              <a:srgbClr val="5243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188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PIPELINE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FALLO: workflow de alertas notifica por email, abre defecto en Jira con prioridad máxima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ÉXITO: proceso continúa hacia Fase 5 — Test UAT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359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Artefactos: screenshots de fallos · videos de ejecución · GitHub Step Summary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520440"/>
            <a:ext cx="416052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520440"/>
            <a:ext cx="4160520" cy="45720"/>
          </a:xfrm>
          <a:prstGeom prst="rect">
            <a:avLst/>
          </a:prstGeom>
          <a:solidFill>
            <a:srgbClr val="5243AA"/>
          </a:solidFill>
          <a:ln w="12700">
            <a:solidFill>
              <a:srgbClr val="5243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6118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384048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de fallos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20840" y="384048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de ejecución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0600" y="411480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Step Summary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20840" y="411480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n8n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01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46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UAT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5303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 · Ambiente Staging · Manual + Automatizado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QA Playbook v2 · Mayo 2026 · QA Lead: Jaime Quinelen Villar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078992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078992"/>
            <a:ext cx="4160520" cy="4572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188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MANUALES POR CATEGORÍA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Exploración de flujos, estados vacíos, usabilidad general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Revisión visual vs diseño de referencia (Figma)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359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Validaciones en navegador, comportamiento del framework Angular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8163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Validación de API, contratos y seguridad SSL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78992"/>
            <a:ext cx="4160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78992"/>
            <a:ext cx="4160520" cy="4572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188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 + APROBACIÓN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Tests: flujo principal por REQ → reporte HTML → email automático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Críticos: alerta inmediata si falla (Jira + email + mensajería)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359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viewport reducido → reporte HTML → email automático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8163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Aprobado: obtiene VoB Usuario (firma funcional) + Ok Técnico (firma TI)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520440"/>
            <a:ext cx="416052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520440"/>
            <a:ext cx="4160520" cy="4572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6118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384048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Xray TestExecution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20840" y="384048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 Usuario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411480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Técnico TI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20840" y="411480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HTML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F2600"/>
          </a:solidFill>
          <a:ln w="12700">
            <a:solidFill>
              <a:srgbClr val="BF2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01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46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Producción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5303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 · Ambiente PROD · Solo flujo principal + críticos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QA Playbook v2 · Mayo 2026 · QA Lead: Jaime Quinelen Villar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078992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078992"/>
            <a:ext cx="4160520" cy="45720"/>
          </a:xfrm>
          <a:prstGeom prst="rect">
            <a:avLst/>
          </a:prstGeom>
          <a:solidFill>
            <a:srgbClr val="BF2600"/>
          </a:solidFill>
          <a:ln w="12700">
            <a:solidFill>
              <a:srgbClr val="BF2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188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EN PRODUCCIÓN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ejecutan los E2E del flujo principal del SDD (Happy Path)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ejecutan los flujos críticos de mayor riesgo funcional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359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ejecutan edge cases que requieran configuración especial en PROD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8163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automático cada hora verifica disponibilidad de ambientes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2735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resultado post-pipeline notifica al QA Lead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78992"/>
            <a:ext cx="4160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78992"/>
            <a:ext cx="4160520" cy="45720"/>
          </a:xfrm>
          <a:prstGeom prst="rect">
            <a:avLst/>
          </a:prstGeom>
          <a:solidFill>
            <a:srgbClr val="BF2600"/>
          </a:solidFill>
          <a:ln w="12700">
            <a:solidFill>
              <a:srgbClr val="BF2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188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 PRODUCCIÓN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 EN PROD (Escaped Defect): se registra con 'found-in: PROD' en Jira, se abre incidente urgente, impacta la métrica de Escaped Defects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APROBADO: ticket avanza a DONE, requerimiento cerrado, métricas actualizadas en dashboard semanal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520440"/>
            <a:ext cx="416052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520440"/>
            <a:ext cx="4160520" cy="45720"/>
          </a:xfrm>
          <a:prstGeom prst="rect">
            <a:avLst/>
          </a:prstGeom>
          <a:solidFill>
            <a:srgbClr val="BF2600"/>
          </a:solidFill>
          <a:ln w="12700">
            <a:solidFill>
              <a:srgbClr val="BF26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6118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384048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found-in: PROD (Jira)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20840" y="384048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inmediata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411480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semanal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946200"/>
          </a:solidFill>
          <a:ln w="12700">
            <a:solidFill>
              <a:srgbClr val="946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01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46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Métricas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5303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 · Dashboard semanal · 5 KPIs gerenciales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QA Playbook v2 · Mayo 2026 · QA Lead: Jaime Quinelen Villar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078992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078992"/>
            <a:ext cx="4160520" cy="45720"/>
          </a:xfrm>
          <a:prstGeom prst="rect">
            <a:avLst/>
          </a:prstGeom>
          <a:solidFill>
            <a:srgbClr val="946200"/>
          </a:solidFill>
          <a:ln w="12700">
            <a:solidFill>
              <a:srgbClr val="9462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188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DE CIERRE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workflow de dashboard semanal se ejecuta automáticamente al cierre del sprint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datos de Jira (bugs, resolución) y GitHub (resultados del pipeline)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359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reporte con los 5 KPIs gerenciales y lo envía a gerencia por email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8163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QA Lead revisa métricas, identifica tendencias y define acciones para el siguiente sprint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2735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repite desde la Fase 1 para el siguiente requerimiento o sprint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78992"/>
            <a:ext cx="4160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78992"/>
            <a:ext cx="4160520" cy="45720"/>
          </a:xfrm>
          <a:prstGeom prst="rect">
            <a:avLst/>
          </a:prstGeom>
          <a:solidFill>
            <a:srgbClr val="946200"/>
          </a:solidFill>
          <a:ln w="12700">
            <a:solidFill>
              <a:srgbClr val="9462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188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KPIS GERENCIALES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Rate — % TCs que pasan en cada ejecución · Target ≥ 95%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— % REQ con al menos un TC definido · Target ≥ 90%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359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Coverage — % TCs automatizados · Target ≥ 70%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8163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Escaped Defects — defectos que llegaron a PROD sin detectar · Target 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2735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Resolution — % resueltos dentro del SLA · Target ≥ 95%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520440"/>
            <a:ext cx="416052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520440"/>
            <a:ext cx="4160520" cy="45720"/>
          </a:xfrm>
          <a:prstGeom prst="rect">
            <a:avLst/>
          </a:prstGeom>
          <a:solidFill>
            <a:srgbClr val="946200"/>
          </a:solidFill>
          <a:ln w="12700">
            <a:solidFill>
              <a:srgbClr val="9462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6118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384048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API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20840" y="384048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0600" y="411480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HTML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20840" y="4114800"/>
            <a:ext cx="1828800" cy="219456"/>
          </a:xfrm>
          <a:prstGeom prst="rect">
            <a:avLst>
              <a:gd name="adj" fmla="val 16667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GERENCIALES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KPIs de Calidad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D8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QA Playbook v2 · Mayo 2026 · QA Lead: Jaime Quinelen Villar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1591056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1591056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8872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6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95%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316736" cy="64008"/>
          </a:xfrm>
          <a:prstGeom prst="rect">
            <a:avLst/>
          </a:prstGeom>
          <a:solidFill>
            <a:srgbClr val="0066CC">
              <a:alpha val="25000"/>
            </a:srgbClr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5176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TCs que pasan en cada ejecución de Cypress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39112" y="1051560"/>
            <a:ext cx="1591056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39112" y="1051560"/>
            <a:ext cx="1591056" cy="45720"/>
          </a:xfrm>
          <a:prstGeom prst="rect">
            <a:avLst/>
          </a:prstGeom>
          <a:solidFill>
            <a:srgbClr val="5243AA"/>
          </a:solidFill>
          <a:ln w="12700">
            <a:solidFill>
              <a:srgbClr val="5243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0552" y="118872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30552" y="18288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24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90%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2176272" y="2514600"/>
            <a:ext cx="1316736" cy="64008"/>
          </a:xfrm>
          <a:prstGeom prst="rect">
            <a:avLst/>
          </a:prstGeom>
          <a:solidFill>
            <a:srgbClr val="5243AA">
              <a:alpha val="25000"/>
            </a:srgbClr>
          </a:solidFill>
          <a:ln w="12700">
            <a:solidFill>
              <a:srgbClr val="5243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0552" y="265176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REQ con al menos 1 TC definido y ejecutado en Xray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58184" y="1051560"/>
            <a:ext cx="1591056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58184" y="1051560"/>
            <a:ext cx="1591056" cy="4572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9624" y="118872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Coverage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9624" y="18288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70%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3895344" y="2514600"/>
            <a:ext cx="1316736" cy="64008"/>
          </a:xfrm>
          <a:prstGeom prst="rect">
            <a:avLst/>
          </a:prstGeom>
          <a:solidFill>
            <a:srgbClr val="00875A">
              <a:alpha val="25000"/>
            </a:srgbClr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9624" y="265176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TCs automatizados / total TCs definidos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77256" y="1051560"/>
            <a:ext cx="1591056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77256" y="1051560"/>
            <a:ext cx="1591056" cy="45720"/>
          </a:xfrm>
          <a:prstGeom prst="rect">
            <a:avLst/>
          </a:prstGeom>
          <a:solidFill>
            <a:srgbClr val="BF2600"/>
          </a:solidFill>
          <a:ln w="12700">
            <a:solidFill>
              <a:srgbClr val="BF26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68696" y="118872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Escaped Defects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68696" y="18288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F2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5614416" y="2514600"/>
            <a:ext cx="1316736" cy="64008"/>
          </a:xfrm>
          <a:prstGeom prst="rect">
            <a:avLst/>
          </a:prstGeom>
          <a:solidFill>
            <a:srgbClr val="BF2600">
              <a:alpha val="25000"/>
            </a:srgbClr>
          </a:solidFill>
          <a:ln w="12700">
            <a:solidFill>
              <a:srgbClr val="BF26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68696" y="265176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que llegaron a PROD sin detectarse en UAT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96328" y="1051560"/>
            <a:ext cx="1591056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96328" y="1051560"/>
            <a:ext cx="1591056" cy="45720"/>
          </a:xfrm>
          <a:prstGeom prst="rect">
            <a:avLst/>
          </a:prstGeom>
          <a:solidFill>
            <a:srgbClr val="946200"/>
          </a:solidFill>
          <a:ln w="12700">
            <a:solidFill>
              <a:srgbClr val="9462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87768" y="118872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Resolution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87768" y="18288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46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95%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7333488" y="2514600"/>
            <a:ext cx="1316736" cy="64008"/>
          </a:xfrm>
          <a:prstGeom prst="rect">
            <a:avLst/>
          </a:prstGeom>
          <a:solidFill>
            <a:srgbClr val="946200">
              <a:alpha val="25000"/>
            </a:srgbClr>
          </a:solidFill>
          <a:ln w="12700">
            <a:solidFill>
              <a:srgbClr val="9462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87768" y="265176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defectos resueltos dentro del SLA por severidad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del Proceso QA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D8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QA Playbook v2 · Mayo 2026 · QA Lead: Jaime Quinelen Villar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27249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2724912" cy="45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61872"/>
            <a:ext cx="420624" cy="420624"/>
          </a:xfrm>
          <a:prstGeom prst="rect">
            <a:avLst>
              <a:gd name="adj" fmla="val 17391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261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4996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Automation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179222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E2E en navegador real. Screenshots, videos, integración CI/CD.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1460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335024" y="250545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5024" y="251460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Críticos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12848" y="250545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12848" y="251460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82112" y="1078992"/>
            <a:ext cx="27249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1078992"/>
            <a:ext cx="2724912" cy="45720"/>
          </a:xfrm>
          <a:prstGeom prst="rect">
            <a:avLst/>
          </a:prstGeom>
          <a:solidFill>
            <a:srgbClr val="5243AA"/>
          </a:solidFill>
          <a:ln w="12700">
            <a:solidFill>
              <a:srgbClr val="5243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9272" y="1261872"/>
            <a:ext cx="420624" cy="420624"/>
          </a:xfrm>
          <a:prstGeom prst="rect">
            <a:avLst>
              <a:gd name="adj" fmla="val 17391"/>
            </a:avLst>
          </a:prstGeom>
          <a:solidFill>
            <a:srgbClr val="5243AA"/>
          </a:solidFill>
          <a:ln w="12700">
            <a:solidFill>
              <a:srgbClr val="5243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128016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22192" y="1261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cypress-axe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22192" y="14996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Accesibilidad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9272" y="179222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WCAG 2.1 A/AA: contraste, ARIA, foco, etiquetas accesibles.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19272" y="250545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251460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97096" y="250545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97096" y="251460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74920" y="250545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51460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044184" y="1078992"/>
            <a:ext cx="27249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44184" y="1078992"/>
            <a:ext cx="2724912" cy="457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81344" y="1261872"/>
            <a:ext cx="420624" cy="420624"/>
          </a:xfrm>
          <a:prstGeom prst="rect">
            <a:avLst>
              <a:gd name="adj" fmla="val 17391"/>
            </a:avLst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1344" y="128016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84264" y="1261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84264" y="14996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81344" y="179222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todas las herramientas QA. Reportes, notificaciones y métricas.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81344" y="250545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81344" y="251460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059168" y="250545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59168" y="251460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936992" y="250545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36992" y="251460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20040" y="2999232"/>
            <a:ext cx="27249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2999232"/>
            <a:ext cx="2724912" cy="45720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3182112"/>
            <a:ext cx="420624" cy="420624"/>
          </a:xfrm>
          <a:prstGeom prst="rect">
            <a:avLst>
              <a:gd name="adj" fmla="val 17391"/>
            </a:avLst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20040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60120" y="31821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60120" y="34198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CI/CD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371246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pipeline ante cada push/PR. 7 stages automatizados.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442569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4348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335024" y="442569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35024" y="44348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212848" y="442569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12848" y="44348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82112" y="2999232"/>
            <a:ext cx="27249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182112" y="2999232"/>
            <a:ext cx="2724912" cy="457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19272" y="3182112"/>
            <a:ext cx="420624" cy="420624"/>
          </a:xfrm>
          <a:prstGeom prst="rect">
            <a:avLst>
              <a:gd name="adj" fmla="val 17391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19272" y="320040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822192" y="31821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3822192" y="34198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y Defectos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319272" y="371246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requerimientos (Epics, Stories) y tracking de defectos.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319272" y="442569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19272" y="44348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Epics/Stories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197096" y="442569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97096" y="44348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tracking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074920" y="442569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74920" y="44348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044184" y="2999232"/>
            <a:ext cx="27249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044184" y="2999232"/>
            <a:ext cx="2724912" cy="45720"/>
          </a:xfrm>
          <a:prstGeom prst="rect">
            <a:avLst/>
          </a:prstGeom>
          <a:solidFill>
            <a:srgbClr val="36B37E"/>
          </a:solidFill>
          <a:ln w="12700">
            <a:solidFill>
              <a:srgbClr val="36B37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181344" y="3182112"/>
            <a:ext cx="420624" cy="420624"/>
          </a:xfrm>
          <a:prstGeom prst="rect">
            <a:avLst>
              <a:gd name="adj" fmla="val 17391"/>
            </a:avLst>
          </a:prstGeom>
          <a:solidFill>
            <a:srgbClr val="36B37E"/>
          </a:solidFill>
          <a:ln w="12700">
            <a:solidFill>
              <a:srgbClr val="36B37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81344" y="320040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684264" y="31821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Xray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6684264" y="34198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Pruebas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181344" y="371246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 REQ → TC. TestPlan, TestExecution y Coverage.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181344" y="442569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81344" y="44348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TestPlan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059168" y="442569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59168" y="44348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936992" y="4425696"/>
            <a:ext cx="804672" cy="201168"/>
          </a:xfrm>
          <a:prstGeom prst="rect">
            <a:avLst>
              <a:gd name="adj" fmla="val 18182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936992" y="44348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N8N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Workflows de Soporte QA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D8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QA Playbook v2 · Mayo 2026 · QA Lead: Jaime Quinelen Villar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2724912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78992"/>
            <a:ext cx="548640" cy="237744"/>
          </a:xfrm>
          <a:prstGeom prst="rect">
            <a:avLst/>
          </a:prstGeom>
          <a:solidFill>
            <a:srgbClr val="EBF4FF"/>
          </a:solidFill>
          <a:ln w="12700">
            <a:solidFill>
              <a:srgbClr val="CCE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97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" y="1115568"/>
            <a:ext cx="868680" cy="182880"/>
          </a:xfrm>
          <a:prstGeom prst="rect">
            <a:avLst>
              <a:gd name="adj" fmla="val 20000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1247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F4/F5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37944" y="11247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Cypress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9768" y="138988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Post-Ejecución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" y="1673352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reporte HTML con PASS/FAIL por TC y envía por email al QA Lead.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82112" y="1078992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1078992"/>
            <a:ext cx="2724912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82112" y="1078992"/>
            <a:ext cx="548640" cy="237744"/>
          </a:xfrm>
          <a:prstGeom prst="rect">
            <a:avLst/>
          </a:prstGeom>
          <a:solidFill>
            <a:srgbClr val="EBF4FF"/>
          </a:solidFill>
          <a:ln w="12700">
            <a:solidFill>
              <a:srgbClr val="CCE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1097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76472" y="1115568"/>
            <a:ext cx="868680" cy="182880"/>
          </a:xfrm>
          <a:prstGeom prst="rect">
            <a:avLst>
              <a:gd name="adj" fmla="val 20000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76472" y="11247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F5/F6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00016" y="11247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AM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91840" y="138988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Diario de Bugs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1673352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defectos abiertos de Jira, consolida en Excel y envía resumen diario.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44184" y="1078992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44184" y="1078992"/>
            <a:ext cx="2724912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44184" y="1078992"/>
            <a:ext cx="548640" cy="237744"/>
          </a:xfrm>
          <a:prstGeom prst="rect">
            <a:avLst/>
          </a:prstGeom>
          <a:solidFill>
            <a:srgbClr val="EBF4FF"/>
          </a:solidFill>
          <a:ln w="12700">
            <a:solidFill>
              <a:srgbClr val="CCE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44184" y="1097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38544" y="1115568"/>
            <a:ext cx="868680" cy="182880"/>
          </a:xfrm>
          <a:prstGeom prst="rect">
            <a:avLst>
              <a:gd name="adj" fmla="val 20000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11247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562088" y="11247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2 minutos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153912" y="138988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Tickets Jira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53912" y="1673352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nuevos tickets y notifica al equipo en tiempo real.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2322576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2322576"/>
            <a:ext cx="2724912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2322576"/>
            <a:ext cx="548640" cy="237744"/>
          </a:xfrm>
          <a:prstGeom prst="rect">
            <a:avLst/>
          </a:prstGeom>
          <a:solidFill>
            <a:srgbClr val="EBF4FF"/>
          </a:solidFill>
          <a:ln w="12700">
            <a:solidFill>
              <a:srgbClr val="CCE3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3408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359152"/>
            <a:ext cx="868680" cy="182880"/>
          </a:xfrm>
          <a:prstGeom prst="rect">
            <a:avLst>
              <a:gd name="adj" fmla="val 20000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236829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F5/F7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837944" y="23682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 PM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29768" y="26334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Diario QA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29768" y="2916936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día: bugs abiertos, TCs ejecutados, avance del sprint.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182112" y="2322576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182112" y="2322576"/>
            <a:ext cx="2724912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82112" y="2322576"/>
            <a:ext cx="548640" cy="237744"/>
          </a:xfrm>
          <a:prstGeom prst="rect">
            <a:avLst/>
          </a:prstGeom>
          <a:solidFill>
            <a:srgbClr val="EBF4FF"/>
          </a:solidFill>
          <a:ln w="12700">
            <a:solidFill>
              <a:srgbClr val="CCE3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82112" y="23408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WF-5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776472" y="2359152"/>
            <a:ext cx="868680" cy="182880"/>
          </a:xfrm>
          <a:prstGeom prst="rect">
            <a:avLst>
              <a:gd name="adj" fmla="val 20000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76472" y="236829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F5/F6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00016" y="23682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hora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291840" y="26334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Ambientes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291840" y="2916936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disponibilidad de staging y PROD. Alerta si hay caída.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044184" y="2322576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044184" y="2322576"/>
            <a:ext cx="2724912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44184" y="2322576"/>
            <a:ext cx="548640" cy="237744"/>
          </a:xfrm>
          <a:prstGeom prst="rect">
            <a:avLst/>
          </a:prstGeom>
          <a:solidFill>
            <a:srgbClr val="EBF4FF"/>
          </a:solidFill>
          <a:ln w="12700">
            <a:solidFill>
              <a:srgbClr val="CCE3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44184" y="23408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WF-6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638544" y="2359152"/>
            <a:ext cx="868680" cy="182880"/>
          </a:xfrm>
          <a:prstGeom prst="rect">
            <a:avLst>
              <a:gd name="adj" fmla="val 20000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38544" y="236829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562088" y="23682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crear ticket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153912" y="26334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SDD PDF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153912" y="2916936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PDF del SDD automáticamente y lo envía al equipo.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0040" y="3566160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20040" y="3566160"/>
            <a:ext cx="2724912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" y="3566160"/>
            <a:ext cx="548640" cy="237744"/>
          </a:xfrm>
          <a:prstGeom prst="rect">
            <a:avLst/>
          </a:prstGeom>
          <a:solidFill>
            <a:srgbClr val="EBF4FF"/>
          </a:solidFill>
          <a:ln w="12700">
            <a:solidFill>
              <a:srgbClr val="CCE3F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3584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WF-7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14400" y="3602736"/>
            <a:ext cx="868680" cy="182880"/>
          </a:xfrm>
          <a:prstGeom prst="rect">
            <a:avLst>
              <a:gd name="adj" fmla="val 20000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4400" y="361188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F4/F5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837944" y="36118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29768" y="387705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Fallos Críticos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29768" y="4160520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fallos en flujos críticos, abre defecto en Jira con prioridad máxima.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182112" y="3566160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3182112" y="3566160"/>
            <a:ext cx="2724912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182112" y="3566160"/>
            <a:ext cx="548640" cy="237744"/>
          </a:xfrm>
          <a:prstGeom prst="rect">
            <a:avLst/>
          </a:prstGeom>
          <a:solidFill>
            <a:srgbClr val="EBF4FF"/>
          </a:solidFill>
          <a:ln w="12700">
            <a:solidFill>
              <a:srgbClr val="CCE3F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82112" y="3584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WF-8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776472" y="3602736"/>
            <a:ext cx="868680" cy="182880"/>
          </a:xfrm>
          <a:prstGeom prst="rect">
            <a:avLst>
              <a:gd name="adj" fmla="val 20000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776472" y="361188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4700016" y="36118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Post-pipeline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291840" y="387705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Pipeline CI/CD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3291840" y="4160520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resultado vía webhook y notifica con estado, rama y commit.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044184" y="3566160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044184" y="3566160"/>
            <a:ext cx="2724912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44184" y="3566160"/>
            <a:ext cx="548640" cy="237744"/>
          </a:xfrm>
          <a:prstGeom prst="rect">
            <a:avLst/>
          </a:prstGeom>
          <a:solidFill>
            <a:srgbClr val="EBF4FF"/>
          </a:solidFill>
          <a:ln w="12700">
            <a:solidFill>
              <a:srgbClr val="CCE3F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44184" y="3584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WF-9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638544" y="3602736"/>
            <a:ext cx="868680" cy="182880"/>
          </a:xfrm>
          <a:prstGeom prst="rect">
            <a:avLst>
              <a:gd name="adj" fmla="val 20000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638544" y="361188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7562088" y="36118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sprint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153912" y="387705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Semanal QA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6153912" y="4160520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reporte con 5 KPIs y lo envía a gerencia al cierre del sprint.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DE RELEASE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Gates — Go / No-Go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D8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QA Playbook v2 · Mayo 2026 · QA Lead: Jaime Quinelen Villar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5349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5349240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6128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RELEASE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1417320"/>
            <a:ext cx="5166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ejecutados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1508760"/>
            <a:ext cx="822960" cy="256032"/>
          </a:xfrm>
          <a:prstGeom prst="rect">
            <a:avLst>
              <a:gd name="adj" fmla="val 14286"/>
            </a:avLst>
          </a:prstGeom>
          <a:solidFill>
            <a:srgbClr val="E6F5EF"/>
          </a:solidFill>
          <a:ln w="12700">
            <a:solidFill>
              <a:srgbClr val="B3DF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5179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11880" y="1508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 en Xray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1920240"/>
            <a:ext cx="5166360" cy="457200"/>
          </a:xfrm>
          <a:prstGeom prst="rect">
            <a:avLst/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críticos abiertos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97480" y="2011680"/>
            <a:ext cx="822960" cy="256032"/>
          </a:xfrm>
          <a:prstGeom prst="rect">
            <a:avLst>
              <a:gd name="adj" fmla="val 14286"/>
            </a:avLst>
          </a:prstGeom>
          <a:solidFill>
            <a:srgbClr val="E6F5EF"/>
          </a:solidFill>
          <a:ln w="12700">
            <a:solidFill>
              <a:srgbClr val="B3D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20208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1188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Cerrado o riesgo aceptado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2423160"/>
            <a:ext cx="5166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514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UAT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97480" y="2514600"/>
            <a:ext cx="822960" cy="256032"/>
          </a:xfrm>
          <a:prstGeom prst="rect">
            <a:avLst>
              <a:gd name="adj" fmla="val 14286"/>
            </a:avLst>
          </a:prstGeom>
          <a:solidFill>
            <a:srgbClr val="E6F5EF"/>
          </a:solidFill>
          <a:ln w="12700">
            <a:solidFill>
              <a:srgbClr val="B3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25237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11880" y="2514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verde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926080"/>
            <a:ext cx="5166360" cy="457200"/>
          </a:xfrm>
          <a:prstGeom prst="rect">
            <a:avLst/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017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97480" y="3017520"/>
            <a:ext cx="822960" cy="256032"/>
          </a:xfrm>
          <a:prstGeom prst="rect">
            <a:avLst>
              <a:gd name="adj" fmla="val 14286"/>
            </a:avLst>
          </a:prstGeom>
          <a:solidFill>
            <a:srgbClr val="E6F5EF"/>
          </a:solidFill>
          <a:ln w="12700">
            <a:solidFill>
              <a:srgbClr val="B3DF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30266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errores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1188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verde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3429000"/>
            <a:ext cx="5166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520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 Usuario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97480" y="3520440"/>
            <a:ext cx="822960" cy="256032"/>
          </a:xfrm>
          <a:prstGeom prst="rect">
            <a:avLst>
              <a:gd name="adj" fmla="val 14286"/>
            </a:avLst>
          </a:prstGeom>
          <a:solidFill>
            <a:srgbClr val="E6F5EF"/>
          </a:solidFill>
          <a:ln w="12700">
            <a:solidFill>
              <a:srgbClr val="B3DF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35295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Requerido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11880" y="3520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Firmado por responsable funcional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3931920"/>
            <a:ext cx="5166360" cy="457200"/>
          </a:xfrm>
          <a:prstGeom prst="rect">
            <a:avLst/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23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Técnico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97480" y="4023360"/>
            <a:ext cx="822960" cy="256032"/>
          </a:xfrm>
          <a:prstGeom prst="rect">
            <a:avLst>
              <a:gd name="adj" fmla="val 14286"/>
            </a:avLst>
          </a:prstGeom>
          <a:solidFill>
            <a:srgbClr val="E6F5EF"/>
          </a:solidFill>
          <a:ln w="12700">
            <a:solidFill>
              <a:srgbClr val="B3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40325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Requerido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1188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Firmado por responsable TI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52160" y="1051560"/>
            <a:ext cx="2971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852160" y="1051560"/>
            <a:ext cx="2971800" cy="4572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52160" y="1051560"/>
            <a:ext cx="2971800" cy="347472"/>
          </a:xfrm>
          <a:prstGeom prst="rect">
            <a:avLst/>
          </a:prstGeom>
          <a:solidFill>
            <a:srgbClr val="E6F5EF"/>
          </a:solidFill>
          <a:ln w="12700">
            <a:solidFill>
              <a:srgbClr val="B3DF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— RELEASE AUTORIZADO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8932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gates en verde. El QA Lead emite el GO por escrito con evidencia adjunta (Cypress, Xray, VoB, Ok TI). Se documenta en Jira → DONE.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852160" y="2944368"/>
            <a:ext cx="2971800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52160" y="2944368"/>
            <a:ext cx="2971800" cy="45720"/>
          </a:xfrm>
          <a:prstGeom prst="rect">
            <a:avLst/>
          </a:prstGeom>
          <a:solidFill>
            <a:srgbClr val="BF2600"/>
          </a:solidFill>
          <a:ln w="12700">
            <a:solidFill>
              <a:srgbClr val="BF26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52160" y="2944368"/>
            <a:ext cx="2971800" cy="347472"/>
          </a:xfrm>
          <a:prstGeom prst="rect">
            <a:avLst/>
          </a:prstGeom>
          <a:solidFill>
            <a:srgbClr val="FFEBE6"/>
          </a:solidFill>
          <a:ln w="12700">
            <a:solidFill>
              <a:srgbClr val="F4C5B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89320" y="2990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BF2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 — RELEASE BLOQUEADO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89320" y="335584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 gate en rojo. El QA Lead documenta el bloqueo, el responsable y la fecha estimada de resolución. Release suspendido.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CIERRE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of Done + SLA por Severidad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D8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QA Playbook v2 · Mayo 2026 · QA Lead: Jaime Quinelen Villar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72491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2724912" cy="457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329184" cy="329184"/>
          </a:xfrm>
          <a:prstGeom prst="rect">
            <a:avLst>
              <a:gd name="adj" fmla="val 16667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216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160934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completo (9 secciones) en Jira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197510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documentados con criterios PASS/FAIL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4086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REQ vs TC en Xray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70662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del SDD generado y enviado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82112" y="1051560"/>
            <a:ext cx="272491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1051560"/>
            <a:ext cx="2724912" cy="4572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9272" y="1188720"/>
            <a:ext cx="329184" cy="329184"/>
          </a:xfrm>
          <a:prstGeom prst="rect">
            <a:avLst>
              <a:gd name="adj" fmla="val 16667"/>
            </a:avLst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30752" y="1216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64992" y="160934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manuales en UAT con evidencia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64992" y="197510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Cypress pasando en UAT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64992" y="234086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críticos automatizados en verde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64992" y="270662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críticos/altos cerrados o aceptados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44184" y="1051560"/>
            <a:ext cx="272491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44184" y="1051560"/>
            <a:ext cx="2724912" cy="45720"/>
          </a:xfrm>
          <a:prstGeom prst="rect">
            <a:avLst/>
          </a:prstGeom>
          <a:solidFill>
            <a:srgbClr val="946200"/>
          </a:solidFill>
          <a:ln w="12700">
            <a:solidFill>
              <a:srgbClr val="9462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1344" y="1188720"/>
            <a:ext cx="329184" cy="329184"/>
          </a:xfrm>
          <a:prstGeom prst="rect">
            <a:avLst>
              <a:gd name="adj" fmla="val 16667"/>
            </a:avLst>
          </a:prstGeom>
          <a:solidFill>
            <a:srgbClr val="946200"/>
          </a:solidFill>
          <a:ln w="12700">
            <a:solidFill>
              <a:srgbClr val="946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1344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92824" y="1216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27064" y="160934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 Usuario firmado (responsable funcional)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27064" y="197510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Técnico firmado (responsable TI)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27064" y="234086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avanzado a DONE en Jira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27064" y="270662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actualizadas en dashboard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34930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POR SEVERIDAD DE DEFECTO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3749040"/>
            <a:ext cx="1993392" cy="914400"/>
          </a:xfrm>
          <a:prstGeom prst="rect">
            <a:avLst>
              <a:gd name="adj" fmla="val 6000"/>
            </a:avLst>
          </a:prstGeom>
          <a:solidFill>
            <a:srgbClr val="FFEBE6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749040"/>
            <a:ext cx="1993392" cy="256032"/>
          </a:xfrm>
          <a:prstGeom prst="rect">
            <a:avLst>
              <a:gd name="adj" fmla="val 21429"/>
            </a:avLst>
          </a:prstGeom>
          <a:solidFill>
            <a:srgbClr val="BF2600"/>
          </a:solidFill>
          <a:ln w="12700">
            <a:solidFill>
              <a:srgbClr val="BF26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895344"/>
            <a:ext cx="1993392" cy="109728"/>
          </a:xfrm>
          <a:prstGeom prst="rect">
            <a:avLst/>
          </a:prstGeom>
          <a:solidFill>
            <a:srgbClr val="BF2600"/>
          </a:solidFill>
          <a:ln w="12700">
            <a:solidFill>
              <a:srgbClr val="BF26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7490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" y="40416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el flujo principal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" y="43708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F2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día hábil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41448" y="3749040"/>
            <a:ext cx="1993392" cy="914400"/>
          </a:xfrm>
          <a:prstGeom prst="rect">
            <a:avLst>
              <a:gd name="adj" fmla="val 6000"/>
            </a:avLst>
          </a:prstGeom>
          <a:solidFill>
            <a:srgbClr val="FFF0E6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41448" y="3749040"/>
            <a:ext cx="1993392" cy="256032"/>
          </a:xfrm>
          <a:prstGeom prst="rect">
            <a:avLst>
              <a:gd name="adj" fmla="val 21429"/>
            </a:avLst>
          </a:prstGeom>
          <a:solidFill>
            <a:srgbClr val="E8750A"/>
          </a:solidFill>
          <a:ln w="12700">
            <a:solidFill>
              <a:srgbClr val="E8750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41448" y="3895344"/>
            <a:ext cx="1993392" cy="109728"/>
          </a:xfrm>
          <a:prstGeom prst="rect">
            <a:avLst/>
          </a:prstGeom>
          <a:solidFill>
            <a:srgbClr val="E8750A"/>
          </a:solidFill>
          <a:ln w="12700">
            <a:solidFill>
              <a:srgbClr val="E875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41448" y="37490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532888" y="40416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crítica degradada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532888" y="43708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días hábiles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62856" y="3749040"/>
            <a:ext cx="1993392" cy="914400"/>
          </a:xfrm>
          <a:prstGeom prst="rect">
            <a:avLst>
              <a:gd name="adj" fmla="val 6000"/>
            </a:avLst>
          </a:prstGeom>
          <a:solidFill>
            <a:srgbClr val="FFF9E6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62856" y="3749040"/>
            <a:ext cx="1993392" cy="256032"/>
          </a:xfrm>
          <a:prstGeom prst="rect">
            <a:avLst>
              <a:gd name="adj" fmla="val 21429"/>
            </a:avLst>
          </a:prstGeom>
          <a:solidFill>
            <a:srgbClr val="946200"/>
          </a:solidFill>
          <a:ln w="12700">
            <a:solidFill>
              <a:srgbClr val="9462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62856" y="3895344"/>
            <a:ext cx="1993392" cy="109728"/>
          </a:xfrm>
          <a:prstGeom prst="rect">
            <a:avLst/>
          </a:prstGeom>
          <a:solidFill>
            <a:srgbClr val="946200"/>
          </a:solidFill>
          <a:ln w="12700">
            <a:solidFill>
              <a:srgbClr val="9462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2856" y="37490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654296" y="40416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afectada con workaround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654296" y="43708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6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días hábiles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684264" y="3749040"/>
            <a:ext cx="1993392" cy="914400"/>
          </a:xfrm>
          <a:prstGeom prst="rect">
            <a:avLst>
              <a:gd name="adj" fmla="val 6000"/>
            </a:avLst>
          </a:prstGeom>
          <a:solidFill>
            <a:srgbClr val="F3F7FB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84264" y="3749040"/>
            <a:ext cx="1993392" cy="256032"/>
          </a:xfrm>
          <a:prstGeom prst="rect">
            <a:avLst>
              <a:gd name="adj" fmla="val 21429"/>
            </a:avLst>
          </a:prstGeom>
          <a:solidFill>
            <a:srgbClr val="3D5A73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84264" y="3895344"/>
            <a:ext cx="1993392" cy="109728"/>
          </a:xfrm>
          <a:prstGeom prst="rect">
            <a:avLst/>
          </a:prstGeom>
          <a:solidFill>
            <a:srgbClr val="3D5A73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84264" y="37490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75704" y="40416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cosmético o de bajo impacto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775704" y="43708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días hábiles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4EA3">
              <a:alpha val="30000"/>
            </a:srgbClr>
          </a:solidFill>
          <a:ln w="12700">
            <a:solidFill>
              <a:srgbClr val="004E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Playbook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6276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9E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— BUPA Chile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2286000"/>
            <a:ext cx="3200400" cy="0"/>
          </a:xfrm>
          <a:prstGeom prst="line">
            <a:avLst/>
          </a:prstGeom>
          <a:noFill/>
          <a:ln w="25400">
            <a:solidFill>
              <a:srgbClr val="4A9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4688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Jaime Quinelen Villar — QA Lead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BUPA Chile · Portal de Pacientes · Mayo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291840"/>
            <a:ext cx="1572768" cy="594360"/>
          </a:xfrm>
          <a:prstGeom prst="rect">
            <a:avLst>
              <a:gd name="adj" fmla="val 9231"/>
            </a:avLst>
          </a:prstGeom>
          <a:solidFill>
            <a:srgbClr val="1A3A5C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31012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Fases QA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48840" y="3291840"/>
            <a:ext cx="1572768" cy="594360"/>
          </a:xfrm>
          <a:prstGeom prst="rect">
            <a:avLst>
              <a:gd name="adj" fmla="val 9231"/>
            </a:avLst>
          </a:prstGeom>
          <a:solidFill>
            <a:srgbClr val="1A3A5C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331012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KPIs Gerenciales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86200" y="3291840"/>
            <a:ext cx="1572768" cy="594360"/>
          </a:xfrm>
          <a:prstGeom prst="rect">
            <a:avLst>
              <a:gd name="adj" fmla="val 9231"/>
            </a:avLst>
          </a:prstGeom>
          <a:solidFill>
            <a:srgbClr val="1A3A5C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331012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Herramientas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23560" y="3291840"/>
            <a:ext cx="1572768" cy="594360"/>
          </a:xfrm>
          <a:prstGeom prst="rect">
            <a:avLst>
              <a:gd name="adj" fmla="val 9231"/>
            </a:avLst>
          </a:prstGeom>
          <a:solidFill>
            <a:srgbClr val="1A3A5C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331012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Workflows n8n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60920" y="3291840"/>
            <a:ext cx="1572768" cy="594360"/>
          </a:xfrm>
          <a:prstGeom prst="rect">
            <a:avLst>
              <a:gd name="adj" fmla="val 9231"/>
            </a:avLst>
          </a:prstGeom>
          <a:solidFill>
            <a:srgbClr val="1A3A5C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331012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+ DoD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4805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Confidencial — Solo Uso Interno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Playbook v2 — BUPA Chile</dc:title>
  <dc:subject>PptxGenJS Presentation</dc:subject>
  <dc:creator>Jaime Quinelen Villar</dc:creator>
  <cp:lastModifiedBy>Jaime Quinelen Villar</cp:lastModifiedBy>
  <cp:revision>1</cp:revision>
  <dcterms:created xsi:type="dcterms:W3CDTF">2026-05-20T12:47:56Z</dcterms:created>
  <dcterms:modified xsi:type="dcterms:W3CDTF">2026-05-20T12:47:56Z</dcterms:modified>
</cp:coreProperties>
</file>