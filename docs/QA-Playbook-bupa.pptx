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577840"/>
            <a:ext cx="12188952" cy="1280160"/>
          </a:xfrm>
          <a:prstGeom prst="rect">
            <a:avLst/>
          </a:prstGeom>
          <a:solidFill>
            <a:srgbClr val="00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QA 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E3F7"/>
                </a:solidFill>
                <a:latin typeface="Calibri"/>
              </a:rPr>
              <a:t>BUPA Chile  ·  Portal Pacientes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429000"/>
            <a:ext cx="3931920" cy="36576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11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9CCFF"/>
                </a:solidFill>
                <a:latin typeface="Calibri"/>
              </a:rPr>
              <a:t>Metodología SDD  ·  Pipeline CI/CD  ·  Automatización n8n  ·  Cypress E2E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06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3F7"/>
                </a:solidFill>
                <a:latin typeface="Calibri"/>
              </a:rPr>
              <a:t>QA Lead: Jaime Quiñelen Villar  ·  v1.0  ·  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66CC"/>
                </a:solidFill>
                <a:latin typeface="Calibri"/>
              </a:rPr>
              <a:t>El Proceso QA — 7 Fases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86968"/>
            <a:ext cx="11155680" cy="228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98B0"/>
                </a:solidFill>
                <a:latin typeface="Calibri"/>
              </a:rPr>
              <a:t>Flujo completo desde el requerimiento hasta las métricas gerenciales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88952" cy="13716"/>
          </a:xfrm>
          <a:prstGeom prst="rect">
            <a:avLst/>
          </a:prstGeom>
          <a:solidFill>
            <a:srgbClr val="D8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98B0"/>
                </a:solidFill>
                <a:latin typeface="Calibri"/>
              </a:rPr>
              <a:t>BUPA Chile  ·  QA Lead: Jaime Quiñelen Villar  ·  v1.0  ·  Mayo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6539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8B0"/>
                </a:solidFill>
                <a:latin typeface="Calibri"/>
              </a:rPr>
              <a:t>2 / 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63040"/>
            <a:ext cx="1508760" cy="1417320"/>
          </a:xfrm>
          <a:prstGeom prst="rect">
            <a:avLst/>
          </a:prstGeom>
          <a:solidFill>
            <a:srgbClr val="EBF4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463040"/>
            <a:ext cx="1508760" cy="34747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499616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865376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66CC"/>
                </a:solidFill>
                <a:latin typeface="Calibri"/>
              </a:rPr>
              <a:t>Requerimiento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340864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8B0"/>
                </a:solidFill>
                <a:latin typeface="Calibri"/>
              </a:rPr>
              <a:t>SDD + Jira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83664" y="203454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98B0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4248" y="1463040"/>
            <a:ext cx="1508760" cy="1417320"/>
          </a:xfrm>
          <a:prstGeom prst="rect">
            <a:avLst/>
          </a:prstGeom>
          <a:solidFill>
            <a:srgbClr val="EBF4FF"/>
          </a:solidFill>
          <a:ln w="19050">
            <a:solidFill>
              <a:srgbClr val="008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84248" y="1463040"/>
            <a:ext cx="1508760" cy="347472"/>
          </a:xfrm>
          <a:prstGeom prst="rect">
            <a:avLst/>
          </a:prstGeom>
          <a:solidFill>
            <a:srgbClr val="008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84248" y="1499616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84248" y="1865376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CC"/>
                </a:solidFill>
                <a:latin typeface="Calibri"/>
              </a:rPr>
              <a:t>Diseño de Pruebas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84248" y="2340864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8B0"/>
                </a:solidFill>
                <a:latin typeface="Calibri"/>
              </a:rPr>
              <a:t>Test Plans + Xray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2152" y="203454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98B0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02736" y="1463040"/>
            <a:ext cx="1508760" cy="1417320"/>
          </a:xfrm>
          <a:prstGeom prst="rect">
            <a:avLst/>
          </a:prstGeom>
          <a:solidFill>
            <a:srgbClr val="EBF4FF"/>
          </a:solidFill>
          <a:ln w="19050">
            <a:solidFill>
              <a:srgbClr val="00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02736" y="1463040"/>
            <a:ext cx="1508760" cy="347472"/>
          </a:xfrm>
          <a:prstGeom prst="rect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02736" y="1499616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2736" y="1865376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7AB8"/>
                </a:solidFill>
                <a:latin typeface="Calibri"/>
              </a:rPr>
              <a:t>Shift-Left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02736" y="2340864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8B0"/>
                </a:solidFill>
                <a:latin typeface="Calibri"/>
              </a:rPr>
              <a:t>Dev + QA revisa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203454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98B0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21224" y="1463040"/>
            <a:ext cx="1508760" cy="1417320"/>
          </a:xfrm>
          <a:prstGeom prst="rect">
            <a:avLst/>
          </a:prstGeom>
          <a:solidFill>
            <a:srgbClr val="EBF4FF"/>
          </a:solidFill>
          <a:ln w="19050">
            <a:solidFill>
              <a:srgbClr val="524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21224" y="1463040"/>
            <a:ext cx="1508760" cy="347472"/>
          </a:xfrm>
          <a:prstGeom prst="rect">
            <a:avLst/>
          </a:prstGeom>
          <a:solidFill>
            <a:srgbClr val="524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21224" y="1499616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1224" y="1865376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243AA"/>
                </a:solidFill>
                <a:latin typeface="Calibri"/>
              </a:rPr>
              <a:t>Pipeline CI/CD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21224" y="2340864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8B0"/>
                </a:solidFill>
                <a:latin typeface="Calibri"/>
              </a:rPr>
              <a:t>GitHub Actions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39128" y="203454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98B0"/>
                </a:solidFill>
                <a:latin typeface="Calibri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39712" y="1463040"/>
            <a:ext cx="1508760" cy="1417320"/>
          </a:xfrm>
          <a:prstGeom prst="rect">
            <a:avLst/>
          </a:prstGeom>
          <a:solidFill>
            <a:srgbClr val="EBF4FF"/>
          </a:solidFill>
          <a:ln w="19050">
            <a:solidFill>
              <a:srgbClr val="00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39712" y="1463040"/>
            <a:ext cx="1508760" cy="347472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39712" y="1499616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9712" y="1865376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75A"/>
                </a:solidFill>
                <a:latin typeface="Calibri"/>
              </a:rPr>
              <a:t>Test UAT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9712" y="2340864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8B0"/>
                </a:solidFill>
                <a:latin typeface="Calibri"/>
              </a:rPr>
              <a:t>Staging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57616" y="203454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98B0"/>
                </a:solidFill>
                <a:latin typeface="Calibri"/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8200" y="1463040"/>
            <a:ext cx="1508760" cy="1417320"/>
          </a:xfrm>
          <a:prstGeom prst="rect">
            <a:avLst/>
          </a:prstGeom>
          <a:solidFill>
            <a:srgbClr val="EBF4FF"/>
          </a:solidFill>
          <a:ln w="19050">
            <a:solidFill>
              <a:srgbClr val="BF2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458200" y="1463040"/>
            <a:ext cx="1508760" cy="347472"/>
          </a:xfrm>
          <a:prstGeom prst="rect">
            <a:avLst/>
          </a:prstGeom>
          <a:solidFill>
            <a:srgbClr val="BF2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58200" y="1499616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1865376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F2600"/>
                </a:solidFill>
                <a:latin typeface="Calibri"/>
              </a:rPr>
              <a:t>Test Producción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2340864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8B0"/>
                </a:solidFill>
                <a:latin typeface="Calibri"/>
              </a:rPr>
              <a:t>Solo críticos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76104" y="203454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98B0"/>
                </a:solidFill>
                <a:latin typeface="Calibri"/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076688" y="1463040"/>
            <a:ext cx="1508760" cy="1417320"/>
          </a:xfrm>
          <a:prstGeom prst="rect">
            <a:avLst/>
          </a:prstGeom>
          <a:solidFill>
            <a:srgbClr val="EBF4FF"/>
          </a:solidFill>
          <a:ln w="19050">
            <a:solidFill>
              <a:srgbClr val="946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076688" y="1463040"/>
            <a:ext cx="1508760" cy="347472"/>
          </a:xfrm>
          <a:prstGeom prst="rect">
            <a:avLst/>
          </a:prstGeom>
          <a:solidFill>
            <a:srgbClr val="94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76688" y="1499616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76688" y="1865376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6200"/>
                </a:solidFill>
                <a:latin typeface="Calibri"/>
              </a:rPr>
              <a:t>Métricas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76688" y="2340864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8B0"/>
                </a:solidFill>
                <a:latin typeface="Calibri"/>
              </a:rPr>
              <a:t>5 KPIs gerenciales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32004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A98B0"/>
                </a:solidFill>
                <a:latin typeface="Calibri"/>
              </a:rPr>
              <a:t>Cada fase produce artefactos que alimentan la siguiente. El ciclo se repite por sprint.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66CC"/>
                </a:solidFill>
                <a:latin typeface="Calibri"/>
              </a:rPr>
              <a:t>Fases 1–2: Requerimiento &amp; Diseño de Pruebas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86968"/>
            <a:ext cx="11155680" cy="228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98B0"/>
                </a:solidFill>
                <a:latin typeface="Calibri"/>
              </a:rPr>
              <a:t>QA Lead define la base de calidad antes de que empiece el desarrollo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88952" cy="13716"/>
          </a:xfrm>
          <a:prstGeom prst="rect">
            <a:avLst/>
          </a:prstGeom>
          <a:solidFill>
            <a:srgbClr val="D8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98B0"/>
                </a:solidFill>
                <a:latin typeface="Calibri"/>
              </a:rPr>
              <a:t>BUPA Chile  ·  QA Lead: Jaime Quiñelen Villar  ·  v1.0  ·  Mayo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6539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8B0"/>
                </a:solidFill>
                <a:latin typeface="Calibri"/>
              </a:rPr>
              <a:t>3 / 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17320"/>
            <a:ext cx="55778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417320"/>
            <a:ext cx="50292" cy="20116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52704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6CC"/>
                </a:solidFill>
                <a:latin typeface="Calibri"/>
              </a:rPr>
              <a:t>F1 — Requerimiento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52704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8B0"/>
                </a:solidFill>
                <a:latin typeface="Calibri"/>
              </a:rPr>
              <a:t>QA Lead · Jira · n8n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856232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5A73"/>
                </a:solidFill>
                <a:latin typeface="Calibri"/>
              </a:rPr>
              <a:t>· SDD completo (9 secciones) en Jira antes de entrar al sprint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103120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5A73"/>
                </a:solidFill>
                <a:latin typeface="Calibri"/>
              </a:rPr>
              <a:t>· PDF del SDD generado y enviado al equipo automáticamente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350008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5A73"/>
                </a:solidFill>
                <a:latin typeface="Calibri"/>
              </a:rPr>
              <a:t>· Board: BACKLOG → SDD EN PROCESO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417320"/>
            <a:ext cx="55778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417320"/>
            <a:ext cx="50292" cy="20116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52704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6CC"/>
                </a:solidFill>
                <a:latin typeface="Calibri"/>
              </a:rPr>
              <a:t>F2 — Diseño de Pruebas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52704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8B0"/>
                </a:solidFill>
                <a:latin typeface="Calibri"/>
              </a:rPr>
              <a:t>QA Lead · Xray · Cypress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856232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5A73"/>
                </a:solidFill>
                <a:latin typeface="Calibri"/>
              </a:rPr>
              <a:t>· TC-XXX-FP (Happy Path) y TC-XXX-EC (Edge Cases) por REQ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103120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5A73"/>
                </a:solidFill>
                <a:latin typeface="Calibri"/>
              </a:rPr>
              <a:t>· Plan manual + automatizado con criterios PASS/FAIL explícitos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350008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5A73"/>
                </a:solidFill>
                <a:latin typeface="Calibri"/>
              </a:rPr>
              <a:t>· Carga en Xray: TestPlan + TestExecution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703320"/>
            <a:ext cx="11430000" cy="1005840"/>
          </a:xfrm>
          <a:prstGeom prst="rect">
            <a:avLst/>
          </a:prstGeom>
          <a:solidFill>
            <a:srgbClr val="EBF4FF"/>
          </a:solidFill>
          <a:ln w="9525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7673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6CC"/>
                </a:solidFill>
                <a:latin typeface="Calibri"/>
              </a:rPr>
              <a:t>Categorías de prueba por REQ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06908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09651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6CC"/>
                </a:solidFill>
                <a:latin typeface="Calibri"/>
              </a:rPr>
              <a:t>UX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09651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5A73"/>
                </a:solidFill>
                <a:latin typeface="Calibri"/>
              </a:rPr>
              <a:t>Flujos de navegación, usabilidad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406908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0" y="409651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6CC"/>
                </a:solidFill>
                <a:latin typeface="Calibri"/>
              </a:rPr>
              <a:t>UI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409651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5A73"/>
                </a:solidFill>
                <a:latin typeface="Calibri"/>
              </a:rPr>
              <a:t>Render visual, ARIA, contraste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406908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409651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6CC"/>
                </a:solidFill>
                <a:latin typeface="Calibri"/>
              </a:rPr>
              <a:t>Frontend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09651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5A73"/>
                </a:solidFill>
                <a:latin typeface="Calibri"/>
              </a:rPr>
              <a:t>Bootstrap Angular, validaciones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0" y="406908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0" y="409651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6CC"/>
                </a:solidFill>
                <a:latin typeface="Calibri"/>
              </a:rPr>
              <a:t>Backend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409651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5A73"/>
                </a:solidFill>
                <a:latin typeface="Calibri"/>
              </a:rPr>
              <a:t>API, SSL, HTTPS redirect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66CC"/>
                </a:solidFill>
                <a:latin typeface="Calibri"/>
              </a:rPr>
              <a:t>Fases 3–4: Shift-Left &amp; Pipeline CI/CD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86968"/>
            <a:ext cx="11155680" cy="228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98B0"/>
                </a:solidFill>
                <a:latin typeface="Calibri"/>
              </a:rPr>
              <a:t>QA participa antes del código — el pipeline valida automáticamente en cada push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88952" cy="13716"/>
          </a:xfrm>
          <a:prstGeom prst="rect">
            <a:avLst/>
          </a:prstGeom>
          <a:solidFill>
            <a:srgbClr val="D8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98B0"/>
                </a:solidFill>
                <a:latin typeface="Calibri"/>
              </a:rPr>
              <a:t>BUPA Chile  ·  QA Lead: Jaime Quiñelen Villar  ·  v1.0  ·  Mayo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6539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8B0"/>
                </a:solidFill>
                <a:latin typeface="Calibri"/>
              </a:rPr>
              <a:t>4 / 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17320"/>
            <a:ext cx="50292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417320"/>
            <a:ext cx="50292" cy="2286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527048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6CC"/>
                </a:solidFill>
                <a:latin typeface="Calibri"/>
              </a:rPr>
              <a:t>F3 — Shift-Left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527048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8B0"/>
                </a:solidFill>
                <a:latin typeface="Calibri"/>
              </a:rPr>
              <a:t>Dev + QA · GitHub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856232"/>
            <a:ext cx="4709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5A73"/>
                </a:solidFill>
                <a:latin typeface="Calibri"/>
              </a:rPr>
              <a:t>· QA revisa cobertura de unit tests por categoría antes del Code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103120"/>
            <a:ext cx="4709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5A73"/>
                </a:solidFill>
                <a:latin typeface="Calibri"/>
              </a:rPr>
              <a:t>· UX · UI · Frontend · Backend — los 4 ángulos cubiertos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350008"/>
            <a:ext cx="4709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5A73"/>
                </a:solidFill>
                <a:latin typeface="Calibri"/>
              </a:rPr>
              <a:t>· QA aprueba → PR abierto → pipeline se activa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1069848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6CC"/>
                </a:solidFill>
                <a:latin typeface="Calibri"/>
              </a:rPr>
              <a:t>F4 — Pipeline CI/CD  (GitHub Actions · 7 stages automáticos)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1417320"/>
            <a:ext cx="877824" cy="56692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0" y="1453896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1673352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Install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1563624"/>
            <a:ext cx="73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98B0"/>
                </a:solidFill>
                <a:latin typeface="Calibri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01968" y="1417320"/>
            <a:ext cx="877824" cy="56692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1968" y="1453896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1673352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Lint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1563624"/>
            <a:ext cx="73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98B0"/>
                </a:solidFill>
                <a:latin typeface="Calibri"/>
              </a:rPr>
              <a:t>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34656" y="1417320"/>
            <a:ext cx="877824" cy="566928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34656" y="1453896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34656" y="1673352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E2E Smoke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1563624"/>
            <a:ext cx="73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98B0"/>
                </a:solidFill>
                <a:latin typeface="Calibri"/>
              </a:rPr>
              <a:t>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67344" y="1417320"/>
            <a:ext cx="877824" cy="566928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67344" y="1453896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67344" y="1673352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E2E Críticos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45168" y="1563624"/>
            <a:ext cx="73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98B0"/>
                </a:solidFill>
                <a:latin typeface="Calibri"/>
              </a:rPr>
              <a:t>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00032" y="1417320"/>
            <a:ext cx="877824" cy="566928"/>
          </a:xfrm>
          <a:prstGeom prst="rect">
            <a:avLst/>
          </a:prstGeom>
          <a:solidFill>
            <a:srgbClr val="524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00032" y="1453896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00032" y="1673352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Mobile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77856" y="1563624"/>
            <a:ext cx="73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98B0"/>
                </a:solidFill>
                <a:latin typeface="Calibri"/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332720" y="1417320"/>
            <a:ext cx="877824" cy="566928"/>
          </a:xfrm>
          <a:prstGeom prst="rect">
            <a:avLst/>
          </a:prstGeom>
          <a:solidFill>
            <a:srgbClr val="94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0" y="1453896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2720" y="1673352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Notify n8n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10544" y="1563624"/>
            <a:ext cx="73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98B0"/>
                </a:solidFill>
                <a:latin typeface="Calibri"/>
              </a:rPr>
              <a:t>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265408" y="1417320"/>
            <a:ext cx="877824" cy="566928"/>
          </a:xfrm>
          <a:prstGeom prst="rect">
            <a:avLst/>
          </a:prstGeom>
          <a:solidFill>
            <a:srgbClr val="94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265408" y="1453896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65408" y="1673352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Report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0" y="2121408"/>
            <a:ext cx="2788920" cy="475488"/>
          </a:xfrm>
          <a:prstGeom prst="rect">
            <a:avLst/>
          </a:prstGeom>
          <a:solidFill>
            <a:srgbClr val="FFEBE6"/>
          </a:solidFill>
          <a:ln w="6350">
            <a:solidFill>
              <a:srgbClr val="BF2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79008" y="215798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F2600"/>
                </a:solidFill>
                <a:latin typeface="Calibri"/>
              </a:rPr>
              <a:t>FALLO → Alerta inmediata: Jira + email + mensajería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95360" y="2121408"/>
            <a:ext cx="3255264" cy="475488"/>
          </a:xfrm>
          <a:prstGeom prst="rect">
            <a:avLst/>
          </a:prstGeom>
          <a:solidFill>
            <a:srgbClr val="E6F5EF"/>
          </a:solidFill>
          <a:ln w="6350">
            <a:solidFill>
              <a:srgbClr val="00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05088" y="215798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875A"/>
                </a:solidFill>
                <a:latin typeface="Calibri"/>
              </a:rPr>
              <a:t>ÉXITO → Continúa a Fase 5 — Test UAT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66CC"/>
                </a:solidFill>
                <a:latin typeface="Calibri"/>
              </a:rPr>
              <a:t>Fases 5–6: Test UAT &amp; Test Producción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86968"/>
            <a:ext cx="11155680" cy="228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98B0"/>
                </a:solidFill>
                <a:latin typeface="Calibri"/>
              </a:rPr>
              <a:t>QA Lead valida en staging y PROD — manual + automatizado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88952" cy="13716"/>
          </a:xfrm>
          <a:prstGeom prst="rect">
            <a:avLst/>
          </a:prstGeom>
          <a:solidFill>
            <a:srgbClr val="D8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98B0"/>
                </a:solidFill>
                <a:latin typeface="Calibri"/>
              </a:rPr>
              <a:t>BUPA Chile  ·  QA Lead: Jaime Quiñelen Villar  ·  v1.0  ·  Mayo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6539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8B0"/>
                </a:solidFill>
                <a:latin typeface="Calibri"/>
              </a:rPr>
              <a:t>5 / 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17320"/>
            <a:ext cx="55778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417320"/>
            <a:ext cx="50292" cy="2377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52704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6CC"/>
                </a:solidFill>
                <a:latin typeface="Calibri"/>
              </a:rPr>
              <a:t>F5 — Test UAT (Staging)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52704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8B0"/>
                </a:solidFill>
                <a:latin typeface="Calibri"/>
              </a:rPr>
              <a:t>QA Lead · Cypress · n8n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856232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5A73"/>
                </a:solidFill>
                <a:latin typeface="Calibri"/>
              </a:rPr>
              <a:t>· Manual: UX · UI · Frontend · Backend por categoría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103120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5A73"/>
                </a:solidFill>
                <a:latin typeface="Calibri"/>
              </a:rPr>
              <a:t>· Cypress: Smoke + Flujos Críticos + Mobile (375px)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350008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5A73"/>
                </a:solidFill>
                <a:latin typeface="Calibri"/>
              </a:rPr>
              <a:t>· Reporte HTML por tipo → email automático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596896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5A73"/>
                </a:solidFill>
                <a:latin typeface="Calibri"/>
              </a:rPr>
              <a:t>· BUG → Jira → regresa a desarrollo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417320"/>
            <a:ext cx="55778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417320"/>
            <a:ext cx="50292" cy="2377440"/>
          </a:xfrm>
          <a:prstGeom prst="rect">
            <a:avLst/>
          </a:prstGeom>
          <a:solidFill>
            <a:srgbClr val="BF2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52704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F2600"/>
                </a:solidFill>
                <a:latin typeface="Calibri"/>
              </a:rPr>
              <a:t>F6 — Test Producción (PROD)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52704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8B0"/>
                </a:solidFill>
                <a:latin typeface="Calibri"/>
              </a:rPr>
              <a:t>QA Lead · Cypress · n8n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856232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5A73"/>
                </a:solidFill>
                <a:latin typeface="Calibri"/>
              </a:rPr>
              <a:t>· Solo E2E flujo principal SDD + flujos críticos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103120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5A73"/>
                </a:solidFill>
                <a:latin typeface="Calibri"/>
              </a:rPr>
              <a:t>· Health check cada hora — alerta si ambiente caído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350008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5A73"/>
                </a:solidFill>
                <a:latin typeface="Calibri"/>
              </a:rPr>
              <a:t>· Escaped Defect → found-in: PROD → incidente urgente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041648"/>
            <a:ext cx="5029200" cy="475488"/>
          </a:xfrm>
          <a:prstGeom prst="rect">
            <a:avLst/>
          </a:prstGeom>
          <a:solidFill>
            <a:srgbClr val="E6F5EF"/>
          </a:solidFill>
          <a:ln w="6350">
            <a:solidFill>
              <a:srgbClr val="00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105656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75A"/>
                </a:solidFill>
                <a:latin typeface="Calibri"/>
              </a:rPr>
              <a:t>✓  APROBADO UAT → avanza a Test Producción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041648"/>
            <a:ext cx="5577840" cy="475488"/>
          </a:xfrm>
          <a:prstGeom prst="rect">
            <a:avLst/>
          </a:prstGeom>
          <a:solidFill>
            <a:srgbClr val="E6F5EF"/>
          </a:solidFill>
          <a:ln w="6350">
            <a:solidFill>
              <a:srgbClr val="00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10565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75A"/>
                </a:solidFill>
                <a:latin typeface="Calibri"/>
              </a:rPr>
              <a:t>✓  APROBADO PROD → ticket DONE · métricas actualizadas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66CC"/>
                </a:solidFill>
                <a:latin typeface="Calibri"/>
              </a:rPr>
              <a:t>Fase 7 — Cierre y Métricas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86968"/>
            <a:ext cx="11155680" cy="228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98B0"/>
                </a:solidFill>
                <a:latin typeface="Calibri"/>
              </a:rPr>
              <a:t>Dashboard semanal automático · Reportado a gerencia cada viernes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88952" cy="13716"/>
          </a:xfrm>
          <a:prstGeom prst="rect">
            <a:avLst/>
          </a:prstGeom>
          <a:solidFill>
            <a:srgbClr val="D8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98B0"/>
                </a:solidFill>
                <a:latin typeface="Calibri"/>
              </a:rPr>
              <a:t>BUPA Chile  ·  QA Lead: Jaime Quiñelen Villar  ·  v1.0  ·  Mayo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6539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8B0"/>
                </a:solidFill>
                <a:latin typeface="Calibri"/>
              </a:rPr>
              <a:t>6 /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2984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3D5A73"/>
                </a:solidFill>
                <a:latin typeface="Calibri"/>
              </a:rPr>
              <a:t>El workflow de dashboard semanal extrae datos de Jira + GitHub y envía el reporte ejecutivo automáticamente.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28800"/>
            <a:ext cx="221284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828800"/>
            <a:ext cx="2212848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1956816"/>
            <a:ext cx="20299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6CC"/>
                </a:solidFill>
                <a:latin typeface="Calibri"/>
              </a:rPr>
              <a:t>Pass / Fail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2359152"/>
            <a:ext cx="20299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5A73"/>
                </a:solidFill>
                <a:latin typeface="Calibri"/>
              </a:rPr>
              <a:t>% TCs que pasan vs fallan por ejecución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" y="3108960"/>
            <a:ext cx="1993392" cy="164592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3108960"/>
            <a:ext cx="20299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066CC"/>
                </a:solidFill>
                <a:latin typeface="Calibri"/>
              </a:rPr>
              <a:t>0%  ████░░░░░░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70048" y="1828800"/>
            <a:ext cx="221284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70048" y="1828800"/>
            <a:ext cx="2212848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79776" y="1956816"/>
            <a:ext cx="20299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6CC"/>
                </a:solidFill>
                <a:latin typeface="Calibri"/>
              </a:rPr>
              <a:t>Test 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9776" y="2359152"/>
            <a:ext cx="20299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5A73"/>
                </a:solidFill>
                <a:latin typeface="Calibri"/>
              </a:rPr>
              <a:t>% de REQs con al menos un TC ejecutado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79776" y="3108960"/>
            <a:ext cx="1993392" cy="164592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79776" y="3108960"/>
            <a:ext cx="20299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066CC"/>
                </a:solidFill>
                <a:latin typeface="Calibri"/>
              </a:rPr>
              <a:t>0%  ████░░░░░░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74336" y="1828800"/>
            <a:ext cx="221284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74336" y="1828800"/>
            <a:ext cx="2212848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84064" y="1956816"/>
            <a:ext cx="20299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6CC"/>
                </a:solidFill>
                <a:latin typeface="Calibri"/>
              </a:rPr>
              <a:t>Automation Coverage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84064" y="2359152"/>
            <a:ext cx="20299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5A73"/>
                </a:solidFill>
                <a:latin typeface="Calibri"/>
              </a:rPr>
              <a:t>% TCs automatizados sobre el total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84064" y="3108960"/>
            <a:ext cx="1993392" cy="164592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84064" y="3108960"/>
            <a:ext cx="20299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066CC"/>
                </a:solidFill>
                <a:latin typeface="Calibri"/>
              </a:rPr>
              <a:t>0%  ████░░░░░░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78624" y="1828800"/>
            <a:ext cx="221284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78624" y="1828800"/>
            <a:ext cx="2212848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88352" y="1956816"/>
            <a:ext cx="20299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6CC"/>
                </a:solidFill>
                <a:latin typeface="Calibri"/>
              </a:rPr>
              <a:t>Escaped Defects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88352" y="2359152"/>
            <a:ext cx="20299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5A73"/>
                </a:solidFill>
                <a:latin typeface="Calibri"/>
              </a:rPr>
              <a:t>Bugs llegados a PROD sin detectarse en UAT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88352" y="3108960"/>
            <a:ext cx="1993392" cy="164592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88352" y="3108960"/>
            <a:ext cx="20299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066CC"/>
                </a:solidFill>
                <a:latin typeface="Calibri"/>
              </a:rPr>
              <a:t>0%  ████░░░░░░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82912" y="1828800"/>
            <a:ext cx="221284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582912" y="1828800"/>
            <a:ext cx="2212848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92640" y="1956816"/>
            <a:ext cx="20299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6CC"/>
                </a:solidFill>
                <a:latin typeface="Calibri"/>
              </a:rPr>
              <a:t>Defect Resolution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2359152"/>
            <a:ext cx="20299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5A73"/>
                </a:solidFill>
                <a:latin typeface="Calibri"/>
              </a:rPr>
              <a:t>% bugs resueltos dentro del SLA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92640" y="3108960"/>
            <a:ext cx="1993392" cy="164592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92640" y="3108960"/>
            <a:ext cx="20299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066CC"/>
                </a:solidFill>
                <a:latin typeface="Calibri"/>
              </a:rPr>
              <a:t>0%  ████░░░░░░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37673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D5A73"/>
                </a:solidFill>
                <a:latin typeface="Calibri"/>
              </a:rPr>
              <a:t>SLA por severidad: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11680" y="3730752"/>
            <a:ext cx="21945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BF2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03120" y="374903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F2600"/>
                </a:solidFill>
                <a:latin typeface="Calibri"/>
              </a:rPr>
              <a:t>Critical: 1 día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80560" y="3730752"/>
            <a:ext cx="21945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FF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0" y="374903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B00"/>
                </a:solidFill>
                <a:latin typeface="Calibri"/>
              </a:rPr>
              <a:t>High: 2 días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9440" y="3730752"/>
            <a:ext cx="21945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40880" y="374903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6CC"/>
                </a:solidFill>
                <a:latin typeface="Calibri"/>
              </a:rPr>
              <a:t>Medium: 5 días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418320" y="3730752"/>
            <a:ext cx="21945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7A9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09760" y="374903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98B0"/>
                </a:solidFill>
                <a:latin typeface="Calibri"/>
              </a:rPr>
              <a:t>Low: 10 días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66CC"/>
                </a:solidFill>
                <a:latin typeface="Calibri"/>
              </a:rPr>
              <a:t>Stack de Herramientas QA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86968"/>
            <a:ext cx="11155680" cy="228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98B0"/>
                </a:solidFill>
                <a:latin typeface="Calibri"/>
              </a:rPr>
              <a:t>Angular 17 · Portal Pacientes BUPA Chile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88952" cy="13716"/>
          </a:xfrm>
          <a:prstGeom prst="rect">
            <a:avLst/>
          </a:prstGeom>
          <a:solidFill>
            <a:srgbClr val="D8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98B0"/>
                </a:solidFill>
                <a:latin typeface="Calibri"/>
              </a:rPr>
              <a:t>BUPA Chile  ·  QA Lead: Jaime Quiñelen Villar  ·  v1.0  ·  Mayo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6539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8B0"/>
                </a:solidFill>
                <a:latin typeface="Calibri"/>
              </a:rPr>
              <a:t>7 / 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63040"/>
            <a:ext cx="5577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463040"/>
            <a:ext cx="54864" cy="8686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CC"/>
                </a:solidFill>
                <a:latin typeface="Calibri"/>
              </a:rPr>
              <a:t>Cypress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19019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5A73"/>
                </a:solidFill>
                <a:latin typeface="Calibri"/>
              </a:rPr>
              <a:t>Automatización E2E en navegador real — screenshots, videos, CI/CD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441448"/>
            <a:ext cx="5577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441448"/>
            <a:ext cx="54864" cy="8686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CC"/>
                </a:solidFill>
                <a:latin typeface="Calibri"/>
              </a:rPr>
              <a:t>cypress-axe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2880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5A73"/>
                </a:solidFill>
                <a:latin typeface="Calibri"/>
              </a:rPr>
              <a:t>Validación automática WCAG 2.1 A/AA — contraste, ARIA, accesibilidad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463040"/>
            <a:ext cx="5577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1463040"/>
            <a:ext cx="54864" cy="8686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8272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CC"/>
                </a:solidFill>
                <a:latin typeface="Calibri"/>
              </a:rPr>
              <a:t>n8n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2" y="19019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5A73"/>
                </a:solidFill>
                <a:latin typeface="Calibri"/>
              </a:rPr>
              <a:t>Motor de automatización — conecta todas las herramientas del proceso QA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2441448"/>
            <a:ext cx="5577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0" y="2441448"/>
            <a:ext cx="54864" cy="8686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48272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CC"/>
                </a:solidFill>
                <a:latin typeface="Calibri"/>
              </a:rPr>
              <a:t>GitHub 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8272" y="2880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5A73"/>
                </a:solidFill>
                <a:latin typeface="Calibri"/>
              </a:rPr>
              <a:t>Pipeline CI/CD — 7 stages automáticos ante cada push o PR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801600" y="1463040"/>
            <a:ext cx="5577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801600" y="1463040"/>
            <a:ext cx="54864" cy="8686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966192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CC"/>
                </a:solidFill>
                <a:latin typeface="Calibri"/>
              </a:rPr>
              <a:t>Jira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966192" y="19019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5A73"/>
                </a:solidFill>
                <a:latin typeface="Calibri"/>
              </a:rPr>
              <a:t>Gestión de requerimientos (Epic/Story) y defectos con board Kanban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801600" y="2441448"/>
            <a:ext cx="5577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2801600" y="2441448"/>
            <a:ext cx="54864" cy="8686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966192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CC"/>
                </a:solidFill>
                <a:latin typeface="Calibri"/>
              </a:rPr>
              <a:t>Xray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66192" y="2880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5A73"/>
                </a:solidFill>
                <a:latin typeface="Calibri"/>
              </a:rPr>
              <a:t>TestPlan, TestExecution, trazabilidad REQ→TC, cobertura de pruebas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66CC"/>
                </a:solidFill>
                <a:latin typeface="Calibri"/>
              </a:rPr>
              <a:t>9 Workflows de Automatización n8n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86968"/>
            <a:ext cx="11155680" cy="228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98B0"/>
                </a:solidFill>
                <a:latin typeface="Calibri"/>
              </a:rPr>
              <a:t>Operan en paralelo al proceso QA — sin intervención manual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88952" cy="13716"/>
          </a:xfrm>
          <a:prstGeom prst="rect">
            <a:avLst/>
          </a:prstGeom>
          <a:solidFill>
            <a:srgbClr val="D8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98B0"/>
                </a:solidFill>
                <a:latin typeface="Calibri"/>
              </a:rPr>
              <a:t>BUPA Chile  ·  QA Lead: Jaime Quiñelen Villar  ·  v1.0  ·  Mayo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6539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8B0"/>
                </a:solidFill>
                <a:latin typeface="Calibri"/>
              </a:rPr>
              <a:t>8 / 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44752"/>
            <a:ext cx="3657600" cy="658368"/>
          </a:xfrm>
          <a:prstGeom prst="rect">
            <a:avLst/>
          </a:prstGeom>
          <a:solidFill>
            <a:srgbClr val="EBF4FF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444752"/>
            <a:ext cx="45720" cy="65836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499616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66CC"/>
                </a:solidFill>
                <a:latin typeface="Calibri"/>
              </a:rPr>
              <a:t>Reporte Regresión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773936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5A73"/>
                </a:solidFill>
                <a:latin typeface="Calibri"/>
              </a:rPr>
              <a:t>Post-Cypress → reporte HTML → Gmail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444752"/>
            <a:ext cx="3657600" cy="658368"/>
          </a:xfrm>
          <a:prstGeom prst="rect">
            <a:avLst/>
          </a:prstGeom>
          <a:solidFill>
            <a:srgbClr val="EBF4FF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1444752"/>
            <a:ext cx="45720" cy="65836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499616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66CC"/>
                </a:solidFill>
                <a:latin typeface="Calibri"/>
              </a:rPr>
              <a:t>Bugs Diarios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1773936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5A73"/>
                </a:solidFill>
                <a:latin typeface="Calibri"/>
              </a:rPr>
              <a:t>Jira bugs abiertos → planilla → Gmail (9am)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444752"/>
            <a:ext cx="3657600" cy="658368"/>
          </a:xfrm>
          <a:prstGeom prst="rect">
            <a:avLst/>
          </a:prstGeom>
          <a:solidFill>
            <a:srgbClr val="EBF4FF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444752"/>
            <a:ext cx="45720" cy="65836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1499616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66CC"/>
                </a:solidFill>
                <a:latin typeface="Calibri"/>
              </a:rPr>
              <a:t>Monitor Tickets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1773936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5A73"/>
                </a:solidFill>
                <a:latin typeface="Calibri"/>
              </a:rPr>
              <a:t>Nuevos KAN en Jira → notificación (2 min)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194560"/>
            <a:ext cx="3657600" cy="658368"/>
          </a:xfrm>
          <a:prstGeom prst="rect">
            <a:avLst/>
          </a:prstGeom>
          <a:solidFill>
            <a:srgbClr val="EBF4FF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2194560"/>
            <a:ext cx="45720" cy="65836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249424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66CC"/>
                </a:solidFill>
                <a:latin typeface="Calibri"/>
              </a:rPr>
              <a:t>Estado Diario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2523744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5A73"/>
                </a:solidFill>
                <a:latin typeface="Calibri"/>
              </a:rPr>
              <a:t>Resumen del día → Gmail (6pm)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2194560"/>
            <a:ext cx="3657600" cy="658368"/>
          </a:xfrm>
          <a:prstGeom prst="rect">
            <a:avLst/>
          </a:prstGeom>
          <a:solidFill>
            <a:srgbClr val="EBF4FF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06240" y="2194560"/>
            <a:ext cx="45720" cy="65836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2249424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66CC"/>
                </a:solidFill>
                <a:latin typeface="Calibri"/>
              </a:rPr>
              <a:t>Health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2523744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5A73"/>
                </a:solidFill>
                <a:latin typeface="Calibri"/>
              </a:rPr>
              <a:t>Ambientes UAT/PROD → alerta si caído (1h)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2194560"/>
            <a:ext cx="3657600" cy="658368"/>
          </a:xfrm>
          <a:prstGeom prst="rect">
            <a:avLst/>
          </a:prstGeom>
          <a:solidFill>
            <a:srgbClr val="EBF4FF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2194560"/>
            <a:ext cx="45720" cy="65836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80" y="2249424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66CC"/>
                </a:solidFill>
                <a:latin typeface="Calibri"/>
              </a:rPr>
              <a:t>SDD PDF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2523744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5A73"/>
                </a:solidFill>
                <a:latin typeface="Calibri"/>
              </a:rPr>
              <a:t>Jira ticket → PDF SDD → Gmail + mensajería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2944368"/>
            <a:ext cx="3657600" cy="658368"/>
          </a:xfrm>
          <a:prstGeom prst="rect">
            <a:avLst/>
          </a:prstGeom>
          <a:solidFill>
            <a:srgbClr val="EBF4FF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2944368"/>
            <a:ext cx="45720" cy="65836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2999232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66CC"/>
                </a:solidFill>
                <a:latin typeface="Calibri"/>
              </a:rPr>
              <a:t>Alerta Críticos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3273552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5A73"/>
                </a:solidFill>
                <a:latin typeface="Calibri"/>
              </a:rPr>
              <a:t>Cypress falla → Jira Highest + email + msg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0" y="2944368"/>
            <a:ext cx="3657600" cy="658368"/>
          </a:xfrm>
          <a:prstGeom prst="rect">
            <a:avLst/>
          </a:prstGeom>
          <a:solidFill>
            <a:srgbClr val="EBF4FF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06240" y="2944368"/>
            <a:ext cx="45720" cy="65836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43400" y="2999232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66CC"/>
                </a:solidFill>
                <a:latin typeface="Calibri"/>
              </a:rPr>
              <a:t>Pipeline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43400" y="3273552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5A73"/>
                </a:solidFill>
                <a:latin typeface="Calibri"/>
              </a:rPr>
              <a:t>GitHub Actions → notificación completa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46720" y="2944368"/>
            <a:ext cx="3657600" cy="658368"/>
          </a:xfrm>
          <a:prstGeom prst="rect">
            <a:avLst/>
          </a:prstGeom>
          <a:solidFill>
            <a:srgbClr val="EBF4FF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0" y="2944368"/>
            <a:ext cx="45720" cy="65836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83880" y="2999232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66CC"/>
                </a:solidFill>
                <a:latin typeface="Calibri"/>
              </a:rPr>
              <a:t>Dashboard Semanal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880" y="3273552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5A73"/>
                </a:solidFill>
                <a:latin typeface="Calibri"/>
              </a:rPr>
              <a:t>KPIs + Jira/GitHub → reporte ejecutivo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577840"/>
            <a:ext cx="12188952" cy="1280160"/>
          </a:xfrm>
          <a:prstGeom prst="rect">
            <a:avLst/>
          </a:prstGeom>
          <a:solidFill>
            <a:srgbClr val="00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0" y="1828800"/>
            <a:ext cx="7616952" cy="4572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QA Playbook — BUPA Chile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3474720" cy="1280160"/>
          </a:xfrm>
          <a:prstGeom prst="rect">
            <a:avLst/>
          </a:prstGeom>
          <a:solidFill>
            <a:srgbClr val="0055AA"/>
          </a:solidFill>
          <a:ln w="9525">
            <a:solidFill>
              <a:srgbClr val="99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Proceso documentado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4636008" y="2194560"/>
            <a:ext cx="3474720" cy="1280160"/>
          </a:xfrm>
          <a:prstGeom prst="rect">
            <a:avLst/>
          </a:prstGeom>
          <a:solidFill>
            <a:srgbClr val="0055AA"/>
          </a:solidFill>
          <a:ln w="9525">
            <a:solidFill>
              <a:srgbClr val="99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73168" y="2468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Automatización activa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49056" y="2194560"/>
            <a:ext cx="3474720" cy="1280160"/>
          </a:xfrm>
          <a:prstGeom prst="rect">
            <a:avLst/>
          </a:prstGeom>
          <a:solidFill>
            <a:srgbClr val="0055AA"/>
          </a:solidFill>
          <a:ln w="9525">
            <a:solidFill>
              <a:srgbClr val="99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86216" y="2468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Métricas en tiempo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3F7"/>
                </a:solidFill>
                <a:latin typeface="Calibri"/>
              </a:rPr>
              <a:t>QA Lead: Jaime Quiñelen Villar  ·  v1.0  ·  Mayo 2026  ·  Portal Pacientes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