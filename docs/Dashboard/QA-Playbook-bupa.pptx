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QA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3F7"/>
                </a:solidFill>
                <a:latin typeface="Calibri"/>
              </a:rPr>
              <a:t>BUPA Chile  ·  Portal Pacientes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29000"/>
            <a:ext cx="3931920" cy="36576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CCFF"/>
                </a:solidFill>
                <a:latin typeface="Calibri"/>
              </a:rPr>
              <a:t>Metodología SDD  ·  Pipeline CI/CD  ·  Automatización n8n  ·  Cypress E2E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3F7"/>
                </a:solidFill>
                <a:latin typeface="Calibri"/>
              </a:rPr>
              <a:t>QA Lead: Jaime Quiñelen Villar  ·  v1.0  ·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El Proceso QA — 7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Flujo completo desde el requerimiento hasta las métricas gerenciales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2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150876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  <a:latin typeface="Calibri"/>
              </a:rPr>
              <a:t>Requerimiento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SDD + Jira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8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84248" y="1463040"/>
            <a:ext cx="1508760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84248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4248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CC"/>
                </a:solidFill>
                <a:latin typeface="Calibri"/>
              </a:rPr>
              <a:t>Diseño de Pruebas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Test Plans + Xray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02736" y="1463040"/>
            <a:ext cx="1508760" cy="347472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02736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B8"/>
                </a:solidFill>
                <a:latin typeface="Calibri"/>
              </a:rPr>
              <a:t>Shift-Left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Dev + QA revisa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21224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524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221224" y="1463040"/>
            <a:ext cx="1508760" cy="347472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1224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43AA"/>
                </a:solidFill>
                <a:latin typeface="Calibri"/>
              </a:rPr>
              <a:t>Pipeline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1224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39712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39712" y="1463040"/>
            <a:ext cx="1508760" cy="347472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39712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75A"/>
                </a:solidFill>
                <a:latin typeface="Calibri"/>
              </a:rPr>
              <a:t>Test UAT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Staging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BF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458200" y="1463040"/>
            <a:ext cx="1508760" cy="347472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58200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F2600"/>
                </a:solidFill>
                <a:latin typeface="Calibri"/>
              </a:rPr>
              <a:t>Test Producción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Solo críticos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76104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76688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94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76688" y="1463040"/>
            <a:ext cx="1508760" cy="347472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76688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6200"/>
                </a:solidFill>
                <a:latin typeface="Calibri"/>
              </a:rPr>
              <a:t>Métricas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5 KPIs gerenciales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3200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98B0"/>
                </a:solidFill>
                <a:latin typeface="Calibri"/>
              </a:rPr>
              <a:t>Cada fase produce artefactos que alimentan la siguiente. El ciclo se repite por sprint.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Fases 1–2: Requerimiento &amp; Diseño de Pruebas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QA Lead define la base de calidad antes de que empiece el desarrollo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3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0292" cy="2011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F1 — Requerimiento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Jira · 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SDD completo (9 secciones) en Jira antes de entrar al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PDF del SDD generado y enviado al equipo automáticamente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Board: BACKLOG → SDD EN PROCESO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0292" cy="2011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F2 — Diseño de Pruebas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Xray · Cypress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TC-XXX-FP (Happy Path) y TC-XXX-EC (Edge Cases) por REQ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Plan manual + automatizado con criterios PASS/FAIL explícitos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Carga en Xray: TestPlan + TestExecution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03320"/>
            <a:ext cx="11430000" cy="1005840"/>
          </a:xfrm>
          <a:prstGeom prst="rect">
            <a:avLst/>
          </a:prstGeom>
          <a:solidFill>
            <a:srgbClr val="EBF4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767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Categorías de prueba por REQ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Flujos de navegación, usabilidad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Render visual, ARIA, contraste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Bootstrap Angular, validaciones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API, SSL, HTTPS redirect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Fases 3–4: Shift-Left &amp; Pipeline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QA participa antes del código — el pipeline valida automáticamente en cada 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4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029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0292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F3 — Shift-Left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2704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Dev + QA ·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5623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QA revisa cobertura de unit tests por categoría antes del 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UX · UI · Frontend · Backend — los 4 ángulos cubiertos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000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QA aprueba → PR abierto → pipeline se activa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06984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F4 — Pipeline CI/CD  (GitHub Actions · 7 stages automáticos)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417320"/>
            <a:ext cx="877824" cy="5669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1417320"/>
            <a:ext cx="877824" cy="5669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34656" y="1417320"/>
            <a:ext cx="877824" cy="56692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34656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E2E Smoke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67344" y="1417320"/>
            <a:ext cx="877824" cy="56692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7344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E2E Críticos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1417320"/>
            <a:ext cx="877824" cy="566928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00032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7856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1417320"/>
            <a:ext cx="877824" cy="566928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32720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Notify n8n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10544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65408" y="1417320"/>
            <a:ext cx="877824" cy="566928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265408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65408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2121408"/>
            <a:ext cx="2788920" cy="475488"/>
          </a:xfrm>
          <a:prstGeom prst="rect">
            <a:avLst/>
          </a:prstGeom>
          <a:solidFill>
            <a:srgbClr val="FFEBE6"/>
          </a:solidFill>
          <a:ln w="6350">
            <a:solidFill>
              <a:srgbClr val="BF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79008" y="21579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2600"/>
                </a:solidFill>
                <a:latin typeface="Calibri"/>
              </a:rPr>
              <a:t>FALLO → Alerta inmediata: Jira + email + mensajería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2121408"/>
            <a:ext cx="3255264" cy="475488"/>
          </a:xfrm>
          <a:prstGeom prst="rect">
            <a:avLst/>
          </a:prstGeom>
          <a:solidFill>
            <a:srgbClr val="E6F5EF"/>
          </a:solidFill>
          <a:ln w="63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05088" y="21579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ÉXITO → Continúa a Fase 5 — Test UAT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Fases 5–6: Test UAT &amp; Test Producción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QA Lead valida en staging y PROD — manual + automatizado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5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0292" cy="2377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F5 — Test UAT (Staging)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Cypress · 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Manual: UX · UI · Frontend · Backend por categoría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Cypress: Smoke + Flujos Críticos + Mobile (375px)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Reporte HTML por tipo → email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9689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BUG → Jira → regresa a desarrollo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50292" cy="2377440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2600"/>
                </a:solidFill>
                <a:latin typeface="Calibri"/>
              </a:rPr>
              <a:t>F6 — Test Producción (PROD)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Cypress · n8n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Solo E2E flujo principal SDD + flujos críticos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Health check cada hora — alerta si ambiente caído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Escaped Defect → found-in: PROD → incidente urgente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41648"/>
            <a:ext cx="5029200" cy="475488"/>
          </a:xfrm>
          <a:prstGeom prst="rect">
            <a:avLst/>
          </a:prstGeom>
          <a:solidFill>
            <a:srgbClr val="E6F5EF"/>
          </a:solidFill>
          <a:ln w="63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1056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75A"/>
                </a:solidFill>
                <a:latin typeface="Calibri"/>
              </a:rPr>
              <a:t>✓  APROBADO UAT → avanza a Test Producción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41648"/>
            <a:ext cx="5577840" cy="475488"/>
          </a:xfrm>
          <a:prstGeom prst="rect">
            <a:avLst/>
          </a:prstGeom>
          <a:solidFill>
            <a:srgbClr val="E6F5EF"/>
          </a:solidFill>
          <a:ln w="63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1056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75A"/>
                </a:solidFill>
                <a:latin typeface="Calibri"/>
              </a:rPr>
              <a:t>✓  APROBADO PROD → ticket DONE · métricas actualizadas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 7 — Cierre y Métricas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Dashboard semanal automático · Reportado a gerencia cada viernes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6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D5A73"/>
                </a:solidFill>
                <a:latin typeface="Calibri"/>
              </a:rPr>
              <a:t>El workflow de dashboard semanal extrae datos de Jira + GitHub y envía el reporte ejecutivo automáticamente.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Pass / Fail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TCs que pasan vs fallan por ejecución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70048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79776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Test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de REQs con al menos un TC ejecutado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9776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79776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4336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74336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84064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Automation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TCs automatizados sobre el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4064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84064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78624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78624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88352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Escaped Defects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Bugs llegados a PROD sin detectarse en UAT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88352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88352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82912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82912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2640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Defect Resolution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bugs resueltos dentro del SLA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92640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767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73"/>
                </a:solidFill>
                <a:latin typeface="Calibri"/>
              </a:rPr>
              <a:t>SLA por severidad: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BF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2600"/>
                </a:solidFill>
                <a:latin typeface="Calibri"/>
              </a:rPr>
              <a:t>Critical: 1 día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B00"/>
                </a:solidFill>
                <a:latin typeface="Calibri"/>
              </a:rPr>
              <a:t>High: 2 días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4088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Medium: 5 días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A9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0976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8B0"/>
                </a:solidFill>
                <a:latin typeface="Calibri"/>
              </a:rPr>
              <a:t>Low: 10 días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Stack de Herramientas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Angular 17 · Portal Pacientes BUPA Chile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7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Cypress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901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Automatización E2E en navegador real — screenshots, videos, CI/CD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41448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441448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cypress-axe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Validación automática WCAG 2.1 A/AA — contraste, ARIA, accesibilidad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1463040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901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Motor de automatización — conecta todas las herramientas del proceso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441448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0" y="2441448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Pipeline CI/CD — 7 stages automáticos ante cada push o PR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" y="3561588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0622" y="3616452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6530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66CC"/>
                </a:solidFill>
                <a:latin typeface="Calibri"/>
              </a:rPr>
              <a:t>Jira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92963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3D5A73"/>
                </a:solidFill>
                <a:latin typeface="Calibri"/>
              </a:rPr>
              <a:t>Gestión</a:t>
            </a:r>
            <a:r>
              <a:rPr sz="1000" b="0" i="0" dirty="0">
                <a:solidFill>
                  <a:srgbClr val="3D5A73"/>
                </a:solidFill>
                <a:latin typeface="Calibri"/>
              </a:rPr>
              <a:t> de </a:t>
            </a:r>
            <a:r>
              <a:rPr sz="1000" b="0" i="0" dirty="0" err="1">
                <a:solidFill>
                  <a:srgbClr val="3D5A73"/>
                </a:solidFill>
                <a:latin typeface="Calibri"/>
              </a:rPr>
              <a:t>requerimientos</a:t>
            </a:r>
            <a:r>
              <a:rPr sz="1000" b="0" i="0" dirty="0">
                <a:solidFill>
                  <a:srgbClr val="3D5A73"/>
                </a:solidFill>
                <a:latin typeface="Calibri"/>
              </a:rPr>
              <a:t> (Epic/Story) y </a:t>
            </a:r>
            <a:r>
              <a:rPr sz="1000" b="0" i="0" dirty="0" err="1">
                <a:solidFill>
                  <a:srgbClr val="3D5A73"/>
                </a:solidFill>
                <a:latin typeface="Calibri"/>
              </a:rPr>
              <a:t>defectos</a:t>
            </a:r>
            <a:r>
              <a:rPr sz="1000" b="0" i="0" dirty="0">
                <a:solidFill>
                  <a:srgbClr val="3D5A73"/>
                </a:solidFill>
                <a:latin typeface="Calibri"/>
              </a:rPr>
              <a:t> con board Kanban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538728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92258" y="3520723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07708" y="35707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66CC"/>
                </a:solidFill>
                <a:latin typeface="Calibri"/>
              </a:rPr>
              <a:t>Xray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7708" y="38999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TestPlan, TestExecution, trazabilidad REQ→TC, cobertura de pruebas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9 Workflows de Automatización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Operan en paralelo al proceso QA — sin intervención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8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44752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49961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Reporte Regresión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7393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Post-Cypress → reporte HTML → Gmail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44752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1444752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149961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Bugs Diarios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77393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Jira bugs abiertos → planilla → Gmail (9am)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44752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444752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149961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Monitor Tickets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77393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Nuevos KAN en Jira → notificación (2 min)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194560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2194560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24942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Estado Diario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2374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Resumen del día → Gmail (6pm)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194560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6240" y="2194560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224942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Health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52374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Ambientes UAT/PROD → alerta si caído (1h)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194560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2194560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224942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SDD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52374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Jira ticket → PDF SDD → Gmail + mensajería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944368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2944368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299923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Alerta Críticos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7355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Cypress falla → Jira Highest + email + msg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2944368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06240" y="2944368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43400" y="299923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Pipeline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327355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GitHub Actions → notificación completa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2944368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46720" y="2944368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83880" y="299923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Dashboard Semanal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327355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KPIs + Jira/GitHub → reporte ejecutivo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616952" cy="4572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QA Playbook — BUPA Chile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74720" cy="1280160"/>
          </a:xfrm>
          <a:prstGeom prst="rect">
            <a:avLst/>
          </a:prstGeom>
          <a:solidFill>
            <a:srgbClr val="0055AA"/>
          </a:solidFill>
          <a:ln w="9525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Proceso documentado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6008" y="2194560"/>
            <a:ext cx="3474720" cy="1280160"/>
          </a:xfrm>
          <a:prstGeom prst="rect">
            <a:avLst/>
          </a:prstGeom>
          <a:solidFill>
            <a:srgbClr val="0055AA"/>
          </a:solidFill>
          <a:ln w="9525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3168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Automatización activa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56" y="2194560"/>
            <a:ext cx="3474720" cy="1280160"/>
          </a:xfrm>
          <a:prstGeom prst="rect">
            <a:avLst/>
          </a:prstGeom>
          <a:solidFill>
            <a:srgbClr val="0055AA"/>
          </a:solidFill>
          <a:ln w="9525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86216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Métricas en tiempo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3F7"/>
                </a:solidFill>
                <a:latin typeface="Calibri"/>
              </a:rPr>
              <a:t>QA Lead: Jaime Quiñelen Villar  ·  v1.0  ·  Mayo 2026  ·  Portal Pacientes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963</Words>
  <Application>Microsoft Office PowerPoint</Application>
  <PresentationFormat>Personalizado</PresentationFormat>
  <Paragraphs>176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Quiñelen</cp:lastModifiedBy>
  <cp:revision>2</cp:revision>
  <dcterms:created xsi:type="dcterms:W3CDTF">2013-01-27T09:14:16Z</dcterms:created>
  <dcterms:modified xsi:type="dcterms:W3CDTF">2026-05-19T17:49:42Z</dcterms:modified>
  <cp:category/>
</cp:coreProperties>
</file>